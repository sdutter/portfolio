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Owner\Documents\Thinkful\Sales%20and%20Retail%20Analysis\Challenge\Retail%20Sales%20Data%20Analysis%20Challenge.xlsb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[Retail Sales Data Analysis Challenge.xlsb]Dashboard!PivotTable4</c:name>
    <c:fmtId val="13"/>
  </c:pivotSource>
  <c:chart>
    <c:autoTitleDeleted val="1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Dashboard!$AD$4</c:f>
              <c:strCache>
                <c:ptCount val="1"/>
                <c:pt idx="0">
                  <c:v>Sum of TY_YTDSales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Dashboard!$AB$5:$AC$17</c:f>
              <c:multiLvlStrCache>
                <c:ptCount val="9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A</c:v>
                  </c:pt>
                  <c:pt idx="4">
                    <c:v>B</c:v>
                  </c:pt>
                  <c:pt idx="5">
                    <c:v>C</c:v>
                  </c:pt>
                  <c:pt idx="6">
                    <c:v>A</c:v>
                  </c:pt>
                  <c:pt idx="7">
                    <c:v>B</c:v>
                  </c:pt>
                  <c:pt idx="8">
                    <c:v>C</c:v>
                  </c:pt>
                </c:lvl>
                <c:lvl>
                  <c:pt idx="0">
                    <c:v>1</c:v>
                  </c:pt>
                  <c:pt idx="3">
                    <c:v>2</c:v>
                  </c:pt>
                  <c:pt idx="6">
                    <c:v>3</c:v>
                  </c:pt>
                </c:lvl>
              </c:multiLvlStrCache>
            </c:multiLvlStrRef>
          </c:cat>
          <c:val>
            <c:numRef>
              <c:f>Dashboard!$AD$5:$AD$17</c:f>
              <c:numCache>
                <c:formatCode>General</c:formatCode>
                <c:ptCount val="9"/>
                <c:pt idx="0">
                  <c:v>31387814.459300004</c:v>
                </c:pt>
                <c:pt idx="1">
                  <c:v>40283092.496200033</c:v>
                </c:pt>
                <c:pt idx="2">
                  <c:v>5516054.3636000035</c:v>
                </c:pt>
                <c:pt idx="3">
                  <c:v>43479442.779099979</c:v>
                </c:pt>
                <c:pt idx="4">
                  <c:v>39971123.148799993</c:v>
                </c:pt>
                <c:pt idx="5">
                  <c:v>5163726.8881000001</c:v>
                </c:pt>
                <c:pt idx="6">
                  <c:v>58872875.236299984</c:v>
                </c:pt>
                <c:pt idx="7">
                  <c:v>20179024.078299977</c:v>
                </c:pt>
                <c:pt idx="8">
                  <c:v>8803897.3269000016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A9-4E43-988F-41D72A649DB0}"/>
            </c:ext>
          </c:extLst>
        </c:ser>
        <c:ser>
          <c:idx val="1"/>
          <c:order val="1"/>
          <c:tx>
            <c:strRef>
              <c:f>Dashboard!$AE$4</c:f>
              <c:strCache>
                <c:ptCount val="1"/>
                <c:pt idx="0">
                  <c:v>Sum of LY_YTDSales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Dashboard!$AB$5:$AC$17</c:f>
              <c:multiLvlStrCache>
                <c:ptCount val="9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A</c:v>
                  </c:pt>
                  <c:pt idx="4">
                    <c:v>B</c:v>
                  </c:pt>
                  <c:pt idx="5">
                    <c:v>C</c:v>
                  </c:pt>
                  <c:pt idx="6">
                    <c:v>A</c:v>
                  </c:pt>
                  <c:pt idx="7">
                    <c:v>B</c:v>
                  </c:pt>
                  <c:pt idx="8">
                    <c:v>C</c:v>
                  </c:pt>
                </c:lvl>
                <c:lvl>
                  <c:pt idx="0">
                    <c:v>1</c:v>
                  </c:pt>
                  <c:pt idx="3">
                    <c:v>2</c:v>
                  </c:pt>
                  <c:pt idx="6">
                    <c:v>3</c:v>
                  </c:pt>
                </c:lvl>
              </c:multiLvlStrCache>
            </c:multiLvlStrRef>
          </c:cat>
          <c:val>
            <c:numRef>
              <c:f>Dashboard!$AE$5:$AE$17</c:f>
              <c:numCache>
                <c:formatCode>General</c:formatCode>
                <c:ptCount val="9"/>
                <c:pt idx="0">
                  <c:v>28862820.56880001</c:v>
                </c:pt>
                <c:pt idx="1">
                  <c:v>34903201.036299989</c:v>
                </c:pt>
                <c:pt idx="2">
                  <c:v>4149871.757699999</c:v>
                </c:pt>
                <c:pt idx="3">
                  <c:v>41904007.570500024</c:v>
                </c:pt>
                <c:pt idx="4">
                  <c:v>37161619.656799987</c:v>
                </c:pt>
                <c:pt idx="5">
                  <c:v>4942560.8040000014</c:v>
                </c:pt>
                <c:pt idx="6">
                  <c:v>58751787.053299941</c:v>
                </c:pt>
                <c:pt idx="7">
                  <c:v>16338134.560699999</c:v>
                </c:pt>
                <c:pt idx="8">
                  <c:v>7959258.9196000015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A9-4E43-988F-41D72A649D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81509888"/>
        <c:axId val="781507264"/>
      </c:barChart>
      <c:catAx>
        <c:axId val="7815098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781507264"/>
        <c:crosses val="autoZero"/>
        <c:auto val="1"/>
        <c:lblAlgn val="ctr"/>
        <c:lblOffset val="100"/>
        <c:noMultiLvlLbl val="0"/>
      </c:catAx>
      <c:valAx>
        <c:axId val="781507264"/>
        <c:scaling>
          <c:orientation val="minMax"/>
        </c:scaling>
        <c:delete val="0"/>
        <c:axPos val="b"/>
        <c:numFmt formatCode="#,##0," sourceLinked="0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781509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qA-DxyEH9jrKq6HpiVdSppAevBY0l4Vz/view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 err="1"/>
              <a:t>UltraMart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Sheri Dutter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June 1, 2021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lvl="0" algn="ctr"/>
            <a:r>
              <a:rPr lang="en-US" sz="4800" i="1" dirty="0">
                <a:solidFill>
                  <a:schemeClr val="tx1"/>
                </a:solidFill>
              </a:rPr>
              <a:t>Goal and Objective</a:t>
            </a:r>
            <a:r>
              <a:rPr lang="en-US" sz="4800" i="1" dirty="0">
                <a:solidFill>
                  <a:srgbClr val="FFFFFF"/>
                </a:solidFill>
              </a:rPr>
              <a:t>.”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The company’s goal is to maintain slow, but sure, sales growth over the last year.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The primary business objective is to monitor YTD sales performance based on store type and region/segments. Ensuring there is a YTD sales increase over last year.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Each store segment has a target to exceed $500 in sales per sq foot per store.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B0EED65-2D5E-458F-A973-3BCDC4102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23" y="125931"/>
            <a:ext cx="11669754" cy="609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45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F5D4043-A47C-4A30-8727-3E2E91DCAB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8758383"/>
              </p:ext>
            </p:extLst>
          </p:nvPr>
        </p:nvGraphicFramePr>
        <p:xfrm>
          <a:off x="338580" y="925033"/>
          <a:ext cx="6583215" cy="5195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B9146E3-A8A6-4570-8F34-4588E75267CC}"/>
              </a:ext>
            </a:extLst>
          </p:cNvPr>
          <p:cNvSpPr txBox="1"/>
          <p:nvPr/>
        </p:nvSpPr>
        <p:spPr>
          <a:xfrm>
            <a:off x="2199167" y="170122"/>
            <a:ext cx="779366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2800" b="0" i="0" baseline="0" dirty="0">
                <a:effectLst/>
              </a:rPr>
              <a:t>YTD Sales Comparison by Region and Store Type</a:t>
            </a:r>
            <a:endParaRPr lang="en-US" sz="2000" dirty="0">
              <a:effectLst/>
            </a:endParaRPr>
          </a:p>
          <a:p>
            <a:pPr algn="ctr" rtl="0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2400" b="0" i="0" baseline="0" dirty="0">
                <a:effectLst/>
              </a:rPr>
              <a:t>(Thousands)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F4A584-068C-4887-B520-0046C821A9EA}"/>
              </a:ext>
            </a:extLst>
          </p:cNvPr>
          <p:cNvSpPr txBox="1"/>
          <p:nvPr/>
        </p:nvSpPr>
        <p:spPr>
          <a:xfrm>
            <a:off x="6921795" y="1286540"/>
            <a:ext cx="440187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YoY sales have increased for all regions and store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Region 1 had the highest total YoY increase with store type C having the highest increase of 33%.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Region 2 had the smallest total YoY increase at 5%.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Region 3 had a 6% increase even though they have the most stores in the region. Store type A should be watched since they had less than 1% increase.</a:t>
            </a:r>
          </a:p>
        </p:txBody>
      </p:sp>
    </p:spTree>
    <p:extLst>
      <p:ext uri="{BB962C8B-B14F-4D97-AF65-F5344CB8AC3E}">
        <p14:creationId xmlns:p14="http://schemas.microsoft.com/office/powerpoint/2010/main" val="2602913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B9146E3-A8A6-4570-8F34-4588E75267CC}"/>
              </a:ext>
            </a:extLst>
          </p:cNvPr>
          <p:cNvSpPr txBox="1"/>
          <p:nvPr/>
        </p:nvSpPr>
        <p:spPr>
          <a:xfrm>
            <a:off x="2199167" y="170122"/>
            <a:ext cx="779366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2800" b="0" i="0" baseline="0" dirty="0">
                <a:effectLst/>
              </a:rPr>
              <a:t>YTD Sales Comparison by Region and Store Type</a:t>
            </a:r>
            <a:endParaRPr lang="en-US" sz="2000" dirty="0">
              <a:effectLst/>
            </a:endParaRPr>
          </a:p>
          <a:p>
            <a:pPr algn="ctr" rtl="0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2400" b="0" i="0" baseline="0" dirty="0">
                <a:effectLst/>
              </a:rPr>
              <a:t>(Thousands)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F4A584-068C-4887-B520-0046C821A9EA}"/>
              </a:ext>
            </a:extLst>
          </p:cNvPr>
          <p:cNvSpPr txBox="1"/>
          <p:nvPr/>
        </p:nvSpPr>
        <p:spPr>
          <a:xfrm>
            <a:off x="1848755" y="4920990"/>
            <a:ext cx="7237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YoY sales increased by 8% largely due to a nearly 14% YoY sales increase in Region 1. Regions 2 and 3 sales should be watch to see how they continue to perform.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037F49-13FD-42E1-94B9-1EE5679C50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57" b="1109"/>
          <a:stretch/>
        </p:blipFill>
        <p:spPr>
          <a:xfrm>
            <a:off x="1848755" y="1284790"/>
            <a:ext cx="8232794" cy="33566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3013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4A3AF-D508-451E-A448-6AEB887ED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285567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624A-DC73-42B6-A4A8-0269B3D49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A2C79-44B5-4540-B400-58D6122C8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data supporting the YoY metrics in this presentation can be found at the link below. If there are any questions, please let me know.</a:t>
            </a:r>
          </a:p>
          <a:p>
            <a:r>
              <a:rPr lang="en-US" dirty="0">
                <a:solidFill>
                  <a:srgbClr val="00206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https://drive.google.com/file/d/1qA-DxyEH9jrKq6HpiVdSppAevBY0l4Vz/view?usp=sharing</a:t>
            </a:r>
            <a:endParaRPr lang="en-US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6222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{CB154CCE-B3A5-40C7-8575-ADD486B76637}tf56160789_win32</Template>
  <TotalTime>50</TotalTime>
  <Words>263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Bookman Old Style</vt:lpstr>
      <vt:lpstr>Calibri</vt:lpstr>
      <vt:lpstr>Franklin Gothic Book</vt:lpstr>
      <vt:lpstr>1_RetrospectVTI</vt:lpstr>
      <vt:lpstr>UltraMart</vt:lpstr>
      <vt:lpstr>Goal and Objective.”</vt:lpstr>
      <vt:lpstr>PowerPoint Presentation</vt:lpstr>
      <vt:lpstr>PowerPoint Presentation</vt:lpstr>
      <vt:lpstr>PowerPoint Presentation</vt:lpstr>
      <vt:lpstr>Appendix</vt:lpstr>
      <vt:lpstr>Supporting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UltraMart</dc:title>
  <dc:creator>Sheri Dutter</dc:creator>
  <cp:lastModifiedBy>Sheri Dutter</cp:lastModifiedBy>
  <cp:revision>6</cp:revision>
  <dcterms:created xsi:type="dcterms:W3CDTF">2021-06-02T01:20:31Z</dcterms:created>
  <dcterms:modified xsi:type="dcterms:W3CDTF">2021-06-02T02:10:43Z</dcterms:modified>
</cp:coreProperties>
</file>