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vnd.openxmlformats-officedocument.vmlDrawing" Extension="vml"/>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spreadsheetml.sheet" PartName="/ppt/embeddings/Microsoft_Excel_Sheet2.xlsx"/>
  <Override ContentType="application/vnd.openxmlformats-officedocument.spreadsheetml.sheet" PartName="/ppt/embeddings/Microsoft_Excel_Sheet1.xlsx"/>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24" roundtripDataSignature="AMtx7miBV88uE7K2wGr3a7R7qY4IMQYy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Today we will be discussing an analysis conducted on mall customers who have memberships.</a:t>
            </a:r>
            <a:endParaRPr/>
          </a:p>
        </p:txBody>
      </p:sp>
      <p:sp>
        <p:nvSpPr>
          <p:cNvPr id="54" name="Google Shape;5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First, we will go through a brief introduction, then we will move into reviewing the two hypothesis tests conducted followed by recommendations based on the test results. Lastly, we will talk about possible next steps and any questions will be answered.</a:t>
            </a:r>
            <a:endParaRPr/>
          </a:p>
        </p:txBody>
      </p:sp>
      <p:sp>
        <p:nvSpPr>
          <p:cNvPr id="60" name="Google Shape;6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SzPts val="1400"/>
              <a:buNone/>
            </a:pPr>
            <a:r>
              <a:rPr lang="en-US" sz="1110">
                <a:latin typeface="Arial"/>
                <a:ea typeface="Arial"/>
                <a:cs typeface="Arial"/>
                <a:sym typeface="Arial"/>
              </a:rPr>
              <a:t>When researching data to use for this project, Kaggle.com, data.gov and data-is-plural.com websites were reviewed. The criteria I used for selecting a dataset was: something that was interesting, a file that had enough data allowing two hypothesis tests to be performed, how recently the data was updated or added to the site and the cleanliness of the data. </a:t>
            </a:r>
            <a:endParaRPr sz="1110">
              <a:latin typeface="Arial"/>
              <a:ea typeface="Arial"/>
              <a:cs typeface="Arial"/>
              <a:sym typeface="Arial"/>
            </a:endParaRPr>
          </a:p>
          <a:p>
            <a:pPr indent="0" lvl="0" marL="0" rtl="0" algn="l">
              <a:lnSpc>
                <a:spcPct val="80000"/>
              </a:lnSpc>
              <a:spcBef>
                <a:spcPts val="0"/>
              </a:spcBef>
              <a:spcAft>
                <a:spcPts val="0"/>
              </a:spcAft>
              <a:buSzPts val="1400"/>
              <a:buNone/>
            </a:pPr>
            <a:r>
              <a:t/>
            </a:r>
            <a:endParaRPr sz="1110">
              <a:latin typeface="Arial"/>
              <a:ea typeface="Arial"/>
              <a:cs typeface="Arial"/>
              <a:sym typeface="Arial"/>
            </a:endParaRPr>
          </a:p>
          <a:p>
            <a:pPr indent="0" lvl="0" marL="0" rtl="0" algn="l">
              <a:lnSpc>
                <a:spcPct val="80000"/>
              </a:lnSpc>
              <a:spcBef>
                <a:spcPts val="0"/>
              </a:spcBef>
              <a:spcAft>
                <a:spcPts val="0"/>
              </a:spcAft>
              <a:buSzPts val="1400"/>
              <a:buNone/>
            </a:pPr>
            <a:r>
              <a:rPr lang="en-US" sz="1110">
                <a:latin typeface="Arial"/>
                <a:ea typeface="Arial"/>
                <a:cs typeface="Arial"/>
                <a:sym typeface="Arial"/>
              </a:rPr>
              <a:t>After reviewing these sites, the mall customers dataset from Kaggle’s website was used to conduct the analyses. The file contains 200 rows of mall customers who have a membership at the mall and five columns which include CustomerID, gender, age, annual income and spending score. The Spending Score is assigned by the mall based on customer behavior and spending nature. The file was also clean and did not have any null values. </a:t>
            </a:r>
            <a:endParaRPr sz="1110">
              <a:latin typeface="Arial"/>
              <a:ea typeface="Arial"/>
              <a:cs typeface="Arial"/>
              <a:sym typeface="Arial"/>
            </a:endParaRPr>
          </a:p>
          <a:p>
            <a:pPr indent="0" lvl="0" marL="0" rtl="0" algn="l">
              <a:lnSpc>
                <a:spcPct val="80000"/>
              </a:lnSpc>
              <a:spcBef>
                <a:spcPts val="0"/>
              </a:spcBef>
              <a:spcAft>
                <a:spcPts val="0"/>
              </a:spcAft>
              <a:buSzPts val="1400"/>
              <a:buNone/>
            </a:pPr>
            <a:r>
              <a:t/>
            </a:r>
            <a:endParaRPr sz="1110">
              <a:latin typeface="Arial"/>
              <a:ea typeface="Arial"/>
              <a:cs typeface="Arial"/>
              <a:sym typeface="Arial"/>
            </a:endParaRPr>
          </a:p>
          <a:p>
            <a:pPr indent="0" lvl="0" marL="0" rtl="0" algn="l">
              <a:lnSpc>
                <a:spcPct val="80000"/>
              </a:lnSpc>
              <a:spcBef>
                <a:spcPts val="0"/>
              </a:spcBef>
              <a:spcAft>
                <a:spcPts val="0"/>
              </a:spcAft>
              <a:buSzPts val="1400"/>
              <a:buNone/>
            </a:pPr>
            <a:r>
              <a:rPr lang="en-US" sz="1110">
                <a:latin typeface="Arial"/>
                <a:ea typeface="Arial"/>
                <a:cs typeface="Arial"/>
                <a:sym typeface="Arial"/>
              </a:rPr>
              <a:t>The objective of this project is to analyze customer demographics with data from the mall’s customers who have membership cards to understand who is shopping at the mall, who to target and how to target current and future customers.</a:t>
            </a:r>
            <a:endParaRPr sz="1110">
              <a:latin typeface="Arial"/>
              <a:ea typeface="Arial"/>
              <a:cs typeface="Arial"/>
              <a:sym typeface="Arial"/>
            </a:endParaRPr>
          </a:p>
          <a:p>
            <a:pPr indent="0" lvl="0" marL="0" rtl="0" algn="l">
              <a:lnSpc>
                <a:spcPct val="80000"/>
              </a:lnSpc>
              <a:spcBef>
                <a:spcPts val="0"/>
              </a:spcBef>
              <a:spcAft>
                <a:spcPts val="0"/>
              </a:spcAft>
              <a:buSzPts val="1400"/>
              <a:buNone/>
            </a:pPr>
            <a:r>
              <a:t/>
            </a:r>
            <a:endParaRPr sz="1110">
              <a:latin typeface="Arial"/>
              <a:ea typeface="Arial"/>
              <a:cs typeface="Arial"/>
              <a:sym typeface="Arial"/>
            </a:endParaRPr>
          </a:p>
          <a:p>
            <a:pPr indent="0" lvl="0" marL="0" rtl="0" algn="l">
              <a:lnSpc>
                <a:spcPct val="80000"/>
              </a:lnSpc>
              <a:spcBef>
                <a:spcPts val="0"/>
              </a:spcBef>
              <a:spcAft>
                <a:spcPts val="0"/>
              </a:spcAft>
              <a:buSzPts val="1400"/>
              <a:buNone/>
            </a:pPr>
            <a:r>
              <a:rPr lang="en-US" sz="1110">
                <a:latin typeface="Arial"/>
                <a:ea typeface="Arial"/>
                <a:cs typeface="Arial"/>
                <a:sym typeface="Arial"/>
              </a:rPr>
              <a:t>The data was first analyzed in Excel to determine the data to use for the hypothesis tests. The analyses were then conducted by importing the file into Python and using Python’s Pandas to review the data and run the hypothesis tests.</a:t>
            </a:r>
            <a:endParaRPr sz="1110">
              <a:latin typeface="Arial"/>
              <a:ea typeface="Arial"/>
              <a:cs typeface="Arial"/>
              <a:sym typeface="Arial"/>
            </a:endParaRPr>
          </a:p>
          <a:p>
            <a:pPr indent="0" lvl="0" marL="0" rtl="0" algn="l">
              <a:lnSpc>
                <a:spcPct val="80000"/>
              </a:lnSpc>
              <a:spcBef>
                <a:spcPts val="0"/>
              </a:spcBef>
              <a:spcAft>
                <a:spcPts val="0"/>
              </a:spcAft>
              <a:buSzPts val="1400"/>
              <a:buNone/>
            </a:pPr>
            <a:r>
              <a:t/>
            </a:r>
            <a:endParaRPr sz="1110">
              <a:latin typeface="Arial"/>
              <a:ea typeface="Arial"/>
              <a:cs typeface="Arial"/>
              <a:sym typeface="Arial"/>
            </a:endParaRPr>
          </a:p>
          <a:p>
            <a:pPr indent="0" lvl="0" marL="0" rtl="0" algn="l">
              <a:lnSpc>
                <a:spcPct val="80000"/>
              </a:lnSpc>
              <a:spcBef>
                <a:spcPts val="0"/>
              </a:spcBef>
              <a:spcAft>
                <a:spcPts val="0"/>
              </a:spcAft>
              <a:buSzPts val="1400"/>
              <a:buNone/>
            </a:pPr>
            <a:r>
              <a:rPr lang="en-US" sz="1110">
                <a:latin typeface="Arial"/>
                <a:ea typeface="Arial"/>
                <a:cs typeface="Arial"/>
                <a:sym typeface="Arial"/>
              </a:rPr>
              <a:t>Two hypothesis tests were preformed: male vs female spending and spending by age group. To conduct the hypothesis tests a t-test was used to determine whether Ho: There is not a significant difference in spending between the two groups being tested or Ha: There is statistical difference between the two testing groups. </a:t>
            </a:r>
            <a:endParaRPr sz="1110">
              <a:latin typeface="Arial"/>
              <a:ea typeface="Arial"/>
              <a:cs typeface="Arial"/>
              <a:sym typeface="Arial"/>
            </a:endParaRPr>
          </a:p>
        </p:txBody>
      </p:sp>
      <p:sp>
        <p:nvSpPr>
          <p:cNvPr id="102" name="Google Shape;10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We will now review the first hypothesis test performed which was spending between males and females.</a:t>
            </a:r>
            <a:endParaRPr/>
          </a:p>
        </p:txBody>
      </p:sp>
      <p:sp>
        <p:nvSpPr>
          <p:cNvPr id="109" name="Google Shape;10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SzPts val="1400"/>
              <a:buNone/>
            </a:pPr>
            <a:r>
              <a:rPr lang="en-US" sz="1100">
                <a:latin typeface="Arial"/>
                <a:ea typeface="Arial"/>
                <a:cs typeface="Arial"/>
                <a:sym typeface="Arial"/>
              </a:rPr>
              <a:t>The first hypothesis test compared spending between males and females. The objective of this test is to confirm or dispel the popular thought that females spend more than males and to provide recommendations on whether one should be more heavily promoted over the other. </a:t>
            </a:r>
            <a:endParaRPr sz="1100">
              <a:latin typeface="Arial"/>
              <a:ea typeface="Arial"/>
              <a:cs typeface="Arial"/>
              <a:sym typeface="Arial"/>
            </a:endParaRPr>
          </a:p>
          <a:p>
            <a:pPr indent="0" lvl="0" marL="0" marR="0" rtl="0" algn="l">
              <a:lnSpc>
                <a:spcPct val="107000"/>
              </a:lnSpc>
              <a:spcBef>
                <a:spcPts val="800"/>
              </a:spcBef>
              <a:spcAft>
                <a:spcPts val="0"/>
              </a:spcAft>
              <a:buSzPts val="1400"/>
              <a:buNone/>
            </a:pPr>
            <a:r>
              <a:t/>
            </a:r>
            <a:endParaRPr sz="1100">
              <a:solidFill>
                <a:srgbClr val="000000"/>
              </a:solidFill>
              <a:latin typeface="Arial"/>
              <a:ea typeface="Arial"/>
              <a:cs typeface="Arial"/>
              <a:sym typeface="Arial"/>
            </a:endParaRPr>
          </a:p>
          <a:p>
            <a:pPr indent="0" lvl="0" marL="0" marR="0" rtl="0" algn="l">
              <a:lnSpc>
                <a:spcPct val="107000"/>
              </a:lnSpc>
              <a:spcBef>
                <a:spcPts val="800"/>
              </a:spcBef>
              <a:spcAft>
                <a:spcPts val="0"/>
              </a:spcAft>
              <a:buSzPts val="1400"/>
              <a:buNone/>
            </a:pPr>
            <a:r>
              <a:rPr lang="en-US" sz="1100">
                <a:solidFill>
                  <a:srgbClr val="000000"/>
                </a:solidFill>
                <a:latin typeface="Arial"/>
                <a:ea typeface="Arial"/>
                <a:cs typeface="Arial"/>
                <a:sym typeface="Arial"/>
              </a:rPr>
              <a:t>To conduct the hypothesis test, a t-test was used to determine whether Ho: There isn’t a significant difference between male and female spending or Ha: There is statistical difference between male and female spending. </a:t>
            </a:r>
            <a:endParaRPr sz="1100">
              <a:latin typeface="Arial"/>
              <a:ea typeface="Arial"/>
              <a:cs typeface="Arial"/>
              <a:sym typeface="Arial"/>
            </a:endParaRPr>
          </a:p>
          <a:p>
            <a:pPr indent="0" lvl="0" marL="0" marR="0" rtl="0" algn="l">
              <a:lnSpc>
                <a:spcPct val="107000"/>
              </a:lnSpc>
              <a:spcBef>
                <a:spcPts val="0"/>
              </a:spcBef>
              <a:spcAft>
                <a:spcPts val="0"/>
              </a:spcAft>
              <a:buSzPts val="1400"/>
              <a:buNone/>
            </a:pPr>
            <a:r>
              <a:t/>
            </a:r>
            <a:endParaRPr sz="1100">
              <a:solidFill>
                <a:srgbClr val="000000"/>
              </a:solidFill>
              <a:latin typeface="Arial"/>
              <a:ea typeface="Arial"/>
              <a:cs typeface="Arial"/>
              <a:sym typeface="Arial"/>
            </a:endParaRPr>
          </a:p>
          <a:p>
            <a:pPr indent="0" lvl="0" marL="0" marR="0" rtl="0" algn="l">
              <a:lnSpc>
                <a:spcPct val="107000"/>
              </a:lnSpc>
              <a:spcBef>
                <a:spcPts val="0"/>
              </a:spcBef>
              <a:spcAft>
                <a:spcPts val="0"/>
              </a:spcAft>
              <a:buSzPts val="1400"/>
              <a:buNone/>
            </a:pPr>
            <a:r>
              <a:rPr i="0" lang="en-US" sz="1100">
                <a:solidFill>
                  <a:srgbClr val="212121"/>
                </a:solidFill>
                <a:latin typeface="Arial"/>
                <a:ea typeface="Arial"/>
                <a:cs typeface="Arial"/>
                <a:sym typeface="Arial"/>
              </a:rPr>
              <a:t>The results shown by the box plot on this slide is that there isn’t a statistical difference between the spending habits of males and females. The p value of 0.4137 also shows there is n</a:t>
            </a:r>
            <a:r>
              <a:rPr lang="en-US" sz="1100">
                <a:solidFill>
                  <a:srgbClr val="212121"/>
                </a:solidFill>
                <a:latin typeface="Arial"/>
                <a:ea typeface="Arial"/>
                <a:cs typeface="Arial"/>
                <a:sym typeface="Arial"/>
              </a:rPr>
              <a:t>o</a:t>
            </a:r>
            <a:r>
              <a:rPr i="0" lang="en-US" sz="1100">
                <a:solidFill>
                  <a:srgbClr val="212121"/>
                </a:solidFill>
                <a:latin typeface="Arial"/>
                <a:ea typeface="Arial"/>
                <a:cs typeface="Arial"/>
                <a:sym typeface="Arial"/>
              </a:rPr>
              <a:t> significant difference in the probability of females spending more than males. </a:t>
            </a:r>
            <a:endParaRPr sz="1100">
              <a:latin typeface="Arial"/>
              <a:ea typeface="Arial"/>
              <a:cs typeface="Arial"/>
              <a:sym typeface="Arial"/>
            </a:endParaRPr>
          </a:p>
          <a:p>
            <a:pPr indent="0" lvl="0" marL="0" marR="0" rtl="0" algn="l">
              <a:lnSpc>
                <a:spcPct val="107000"/>
              </a:lnSpc>
              <a:spcBef>
                <a:spcPts val="0"/>
              </a:spcBef>
              <a:spcAft>
                <a:spcPts val="0"/>
              </a:spcAft>
              <a:buSzPts val="1400"/>
              <a:buNone/>
            </a:pPr>
            <a:r>
              <a:t/>
            </a:r>
            <a:endParaRPr i="0" sz="1100">
              <a:solidFill>
                <a:srgbClr val="212121"/>
              </a:solidFill>
              <a:latin typeface="Arial"/>
              <a:ea typeface="Arial"/>
              <a:cs typeface="Arial"/>
              <a:sym typeface="Arial"/>
            </a:endParaRPr>
          </a:p>
          <a:p>
            <a:pPr indent="0" lvl="0" marL="0" marR="0" rtl="0" algn="l">
              <a:lnSpc>
                <a:spcPct val="107000"/>
              </a:lnSpc>
              <a:spcBef>
                <a:spcPts val="0"/>
              </a:spcBef>
              <a:spcAft>
                <a:spcPts val="0"/>
              </a:spcAft>
              <a:buSzPts val="1400"/>
              <a:buNone/>
            </a:pPr>
            <a:r>
              <a:rPr i="0" lang="en-US" sz="1100">
                <a:solidFill>
                  <a:srgbClr val="212121"/>
                </a:solidFill>
                <a:latin typeface="Arial"/>
                <a:ea typeface="Arial"/>
                <a:cs typeface="Arial"/>
                <a:sym typeface="Arial"/>
              </a:rPr>
              <a:t>This test will change the minds of everyone who believes females spend more than males and will provide valuable insight to the mall and its stores. From a business perspective, it shows that the mall and mall stores will be profitable by targeting both males and females.</a:t>
            </a:r>
            <a:endParaRPr sz="1100">
              <a:latin typeface="Arial"/>
              <a:ea typeface="Arial"/>
              <a:cs typeface="Arial"/>
              <a:sym typeface="Arial"/>
            </a:endParaRPr>
          </a:p>
        </p:txBody>
      </p:sp>
      <p:sp>
        <p:nvSpPr>
          <p:cNvPr id="118" name="Google Shape;11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We will now review the second hypothesis test performed which was based on age groups.</a:t>
            </a:r>
            <a:endParaRPr/>
          </a:p>
        </p:txBody>
      </p:sp>
      <p:sp>
        <p:nvSpPr>
          <p:cNvPr id="136" name="Google Shape;136;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77000"/>
              </a:lnSpc>
              <a:spcBef>
                <a:spcPts val="0"/>
              </a:spcBef>
              <a:spcAft>
                <a:spcPts val="0"/>
              </a:spcAft>
              <a:buSzPts val="1400"/>
              <a:buNone/>
            </a:pPr>
            <a:r>
              <a:rPr lang="en-US" sz="935">
                <a:latin typeface="Arial"/>
                <a:ea typeface="Arial"/>
                <a:cs typeface="Arial"/>
                <a:sym typeface="Arial"/>
              </a:rPr>
              <a:t>When it comes to what age group spends the most, I felt people in their 30s spend more than those in their 40s because they have families with young children, have established their career enough to have a good salary, have tenure at the company where they work and even if they are single, they will likely be homeowners who need/want to buy things for their house/apartment. </a:t>
            </a:r>
            <a:endParaRPr sz="935">
              <a:latin typeface="Arial"/>
              <a:ea typeface="Arial"/>
              <a:cs typeface="Arial"/>
              <a:sym typeface="Arial"/>
            </a:endParaRPr>
          </a:p>
          <a:p>
            <a:pPr indent="0" lvl="0" marL="0" marR="0" rtl="0" algn="l">
              <a:lnSpc>
                <a:spcPct val="77000"/>
              </a:lnSpc>
              <a:spcBef>
                <a:spcPts val="0"/>
              </a:spcBef>
              <a:spcAft>
                <a:spcPts val="0"/>
              </a:spcAft>
              <a:buSzPts val="1400"/>
              <a:buNone/>
            </a:pPr>
            <a:r>
              <a:t/>
            </a:r>
            <a:endParaRPr sz="935">
              <a:latin typeface="Arial"/>
              <a:ea typeface="Arial"/>
              <a:cs typeface="Arial"/>
              <a:sym typeface="Arial"/>
            </a:endParaRPr>
          </a:p>
          <a:p>
            <a:pPr indent="0" lvl="0" marL="0" marR="0" rtl="0" algn="l">
              <a:lnSpc>
                <a:spcPct val="77000"/>
              </a:lnSpc>
              <a:spcBef>
                <a:spcPts val="0"/>
              </a:spcBef>
              <a:spcAft>
                <a:spcPts val="0"/>
              </a:spcAft>
              <a:buSzPts val="1400"/>
              <a:buNone/>
            </a:pPr>
            <a:r>
              <a:rPr lang="en-US" sz="935">
                <a:latin typeface="Arial"/>
                <a:ea typeface="Arial"/>
                <a:cs typeface="Arial"/>
                <a:sym typeface="Arial"/>
              </a:rPr>
              <a:t>The objective of this test is to determine which age range spends more and to provide recommendations on whether one should be more heavily promoted over the other. </a:t>
            </a:r>
            <a:endParaRPr/>
          </a:p>
          <a:p>
            <a:pPr indent="0" lvl="0" marL="0" marR="0" rtl="0" algn="l">
              <a:lnSpc>
                <a:spcPct val="77000"/>
              </a:lnSpc>
              <a:spcBef>
                <a:spcPts val="0"/>
              </a:spcBef>
              <a:spcAft>
                <a:spcPts val="0"/>
              </a:spcAft>
              <a:buSzPts val="1400"/>
              <a:buNone/>
            </a:pPr>
            <a:r>
              <a:t/>
            </a:r>
            <a:endParaRPr sz="935">
              <a:latin typeface="Arial"/>
              <a:ea typeface="Arial"/>
              <a:cs typeface="Arial"/>
              <a:sym typeface="Arial"/>
            </a:endParaRPr>
          </a:p>
          <a:p>
            <a:pPr indent="0" lvl="0" marL="0" marR="0" rtl="0" algn="l">
              <a:lnSpc>
                <a:spcPct val="77000"/>
              </a:lnSpc>
              <a:spcBef>
                <a:spcPts val="800"/>
              </a:spcBef>
              <a:spcAft>
                <a:spcPts val="0"/>
              </a:spcAft>
              <a:buClr>
                <a:srgbClr val="000000"/>
              </a:buClr>
              <a:buSzPts val="740"/>
              <a:buFont typeface="Arial"/>
              <a:buNone/>
            </a:pPr>
            <a:r>
              <a:rPr lang="en-US" sz="935">
                <a:solidFill>
                  <a:srgbClr val="000000"/>
                </a:solidFill>
                <a:latin typeface="Arial"/>
                <a:ea typeface="Arial"/>
                <a:cs typeface="Arial"/>
                <a:sym typeface="Arial"/>
              </a:rPr>
              <a:t>After reviewing the data in Excel, a t-test was used to conduct the hypothesis test on spending between ages 31-40/those in their Thirties to ages 41-50/those in their Forties in order to determine whether or not there is statistical difference in spending between the two age groups</a:t>
            </a:r>
            <a:endParaRPr sz="935">
              <a:latin typeface="Arial"/>
              <a:ea typeface="Arial"/>
              <a:cs typeface="Arial"/>
              <a:sym typeface="Arial"/>
            </a:endParaRPr>
          </a:p>
          <a:p>
            <a:pPr indent="0" lvl="0" marL="0" marR="0" rtl="0" algn="l">
              <a:lnSpc>
                <a:spcPct val="77000"/>
              </a:lnSpc>
              <a:spcBef>
                <a:spcPts val="800"/>
              </a:spcBef>
              <a:spcAft>
                <a:spcPts val="0"/>
              </a:spcAft>
              <a:buSzPts val="1400"/>
              <a:buNone/>
            </a:pPr>
            <a:r>
              <a:t/>
            </a:r>
            <a:endParaRPr sz="935">
              <a:solidFill>
                <a:srgbClr val="000000"/>
              </a:solidFill>
              <a:latin typeface="Arial"/>
              <a:ea typeface="Arial"/>
              <a:cs typeface="Arial"/>
              <a:sym typeface="Arial"/>
            </a:endParaRPr>
          </a:p>
          <a:p>
            <a:pPr indent="0" lvl="0" marL="0" marR="0" rtl="0" algn="l">
              <a:lnSpc>
                <a:spcPct val="77000"/>
              </a:lnSpc>
              <a:spcBef>
                <a:spcPts val="0"/>
              </a:spcBef>
              <a:spcAft>
                <a:spcPts val="0"/>
              </a:spcAft>
              <a:buClr>
                <a:srgbClr val="212121"/>
              </a:buClr>
              <a:buSzPts val="1017"/>
              <a:buFont typeface="Roboto"/>
              <a:buNone/>
            </a:pPr>
            <a:r>
              <a:rPr i="0" lang="en-US" sz="935">
                <a:solidFill>
                  <a:srgbClr val="212121"/>
                </a:solidFill>
                <a:latin typeface="Arial"/>
                <a:ea typeface="Arial"/>
                <a:cs typeface="Arial"/>
                <a:sym typeface="Arial"/>
              </a:rPr>
              <a:t>The </a:t>
            </a:r>
            <a:r>
              <a:rPr lang="en-US" sz="935">
                <a:latin typeface="Arial"/>
                <a:ea typeface="Arial"/>
                <a:cs typeface="Arial"/>
                <a:sym typeface="Arial"/>
              </a:rPr>
              <a:t>box plot on this slide shows that there is statistical difference between the spending habits of those in their 30s compared to those in their 40s. This test also had a very low p value. Based on these results, I can reject the null that there is no difference between the spending score of those in their 30s compared to those in their 40s. </a:t>
            </a:r>
            <a:endParaRPr sz="935">
              <a:latin typeface="Arial"/>
              <a:ea typeface="Arial"/>
              <a:cs typeface="Arial"/>
              <a:sym typeface="Arial"/>
            </a:endParaRPr>
          </a:p>
          <a:p>
            <a:pPr indent="0" lvl="0" marL="0" marR="0" rtl="0" algn="l">
              <a:lnSpc>
                <a:spcPct val="77000"/>
              </a:lnSpc>
              <a:spcBef>
                <a:spcPts val="0"/>
              </a:spcBef>
              <a:spcAft>
                <a:spcPts val="0"/>
              </a:spcAft>
              <a:buClr>
                <a:schemeClr val="dk1"/>
              </a:buClr>
              <a:buSzPts val="1665"/>
              <a:buFont typeface="Malgun Gothic"/>
              <a:buNone/>
            </a:pPr>
            <a:r>
              <a:t/>
            </a:r>
            <a:endParaRPr sz="935">
              <a:latin typeface="Arial"/>
              <a:ea typeface="Arial"/>
              <a:cs typeface="Arial"/>
              <a:sym typeface="Arial"/>
            </a:endParaRPr>
          </a:p>
          <a:p>
            <a:pPr indent="0" lvl="0" marL="0" marR="0" rtl="0" algn="l">
              <a:lnSpc>
                <a:spcPct val="77000"/>
              </a:lnSpc>
              <a:spcBef>
                <a:spcPts val="0"/>
              </a:spcBef>
              <a:spcAft>
                <a:spcPts val="0"/>
              </a:spcAft>
              <a:buClr>
                <a:schemeClr val="dk1"/>
              </a:buClr>
              <a:buSzPts val="1665"/>
              <a:buFont typeface="Calibri"/>
              <a:buNone/>
            </a:pPr>
            <a:r>
              <a:rPr lang="en-US" sz="935">
                <a:latin typeface="Arial"/>
                <a:ea typeface="Arial"/>
                <a:cs typeface="Arial"/>
                <a:sym typeface="Arial"/>
              </a:rPr>
              <a:t>This results of this test shows that those in their 30s, regardless of gender, have a higher spending score over those in their 40s, which confirms my initial predicted results. This analysis will allow the mall and the mall stores to know who to best target when purchasing product and in their advertising. From a business perspective, it shows that the mall will be more profitable by bringing in stores with products targeting those in their 30s.</a:t>
            </a:r>
            <a:endParaRPr sz="1020">
              <a:latin typeface="Arial"/>
              <a:ea typeface="Arial"/>
              <a:cs typeface="Arial"/>
              <a:sym typeface="Arial"/>
            </a:endParaRPr>
          </a:p>
        </p:txBody>
      </p:sp>
      <p:sp>
        <p:nvSpPr>
          <p:cNvPr id="145" name="Google Shape;145;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We will now review recommendations based on the two hypothesis tests performed.</a:t>
            </a:r>
            <a:endParaRPr/>
          </a:p>
        </p:txBody>
      </p:sp>
      <p:sp>
        <p:nvSpPr>
          <p:cNvPr id="166" name="Google Shape;16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97000"/>
              </a:lnSpc>
              <a:spcBef>
                <a:spcPts val="0"/>
              </a:spcBef>
              <a:spcAft>
                <a:spcPts val="0"/>
              </a:spcAft>
              <a:buSzPts val="1400"/>
              <a:buNone/>
            </a:pPr>
            <a:r>
              <a:rPr lang="en-US">
                <a:latin typeface="Arial"/>
                <a:ea typeface="Arial"/>
                <a:cs typeface="Arial"/>
                <a:sym typeface="Arial"/>
              </a:rPr>
              <a:t>After analyzing the data on the amount spent between male and female mall customers with memberships, one recommendation is to target promotions to both equally. The data did not show enough difference in the amount spent to suggest targeting one over the other. Also, the mall owner should ensure the stores in the mall provide products and promotions equally to males and females to provide opportunity to achieve the highest sales and revenue. </a:t>
            </a:r>
            <a:endParaRPr/>
          </a:p>
          <a:p>
            <a:pPr indent="0" lvl="0" marL="0" marR="0" rtl="0" algn="l">
              <a:lnSpc>
                <a:spcPct val="97000"/>
              </a:lnSpc>
              <a:spcBef>
                <a:spcPts val="0"/>
              </a:spcBef>
              <a:spcAft>
                <a:spcPts val="0"/>
              </a:spcAft>
              <a:buSzPts val="1400"/>
              <a:buNone/>
            </a:pPr>
            <a:r>
              <a:t/>
            </a:r>
            <a:endParaRPr>
              <a:latin typeface="Arial"/>
              <a:ea typeface="Arial"/>
              <a:cs typeface="Arial"/>
              <a:sym typeface="Arial"/>
            </a:endParaRPr>
          </a:p>
          <a:p>
            <a:pPr indent="0" lvl="0" marL="0" marR="0" rtl="0" algn="l">
              <a:lnSpc>
                <a:spcPct val="97000"/>
              </a:lnSpc>
              <a:spcBef>
                <a:spcPts val="800"/>
              </a:spcBef>
              <a:spcAft>
                <a:spcPts val="0"/>
              </a:spcAft>
              <a:buSzPts val="1400"/>
              <a:buNone/>
            </a:pPr>
            <a:r>
              <a:rPr lang="en-US">
                <a:latin typeface="Arial"/>
                <a:ea typeface="Arial"/>
                <a:cs typeface="Arial"/>
                <a:sym typeface="Arial"/>
              </a:rPr>
              <a:t>Additionally, the analysis between people in their 30s compared to those in their 40s showed a significant difference in the amount mall customers spent, regardless of whether they are male or female, in that those in their 30s are spending more than those in their 40s. </a:t>
            </a:r>
            <a:endParaRPr/>
          </a:p>
          <a:p>
            <a:pPr indent="0" lvl="0" marL="0" marR="0" rtl="0" algn="l">
              <a:lnSpc>
                <a:spcPct val="97000"/>
              </a:lnSpc>
              <a:spcBef>
                <a:spcPts val="800"/>
              </a:spcBef>
              <a:spcAft>
                <a:spcPts val="0"/>
              </a:spcAft>
              <a:buSzPts val="1400"/>
              <a:buNone/>
            </a:pPr>
            <a:r>
              <a:t/>
            </a:r>
            <a:endParaRPr>
              <a:latin typeface="Arial"/>
              <a:ea typeface="Arial"/>
              <a:cs typeface="Arial"/>
              <a:sym typeface="Arial"/>
            </a:endParaRPr>
          </a:p>
          <a:p>
            <a:pPr indent="0" lvl="0" marL="0" marR="0" rtl="0" algn="l">
              <a:lnSpc>
                <a:spcPct val="97000"/>
              </a:lnSpc>
              <a:spcBef>
                <a:spcPts val="800"/>
              </a:spcBef>
              <a:spcAft>
                <a:spcPts val="0"/>
              </a:spcAft>
              <a:buSzPts val="1400"/>
              <a:buNone/>
            </a:pPr>
            <a:r>
              <a:rPr lang="en-US">
                <a:latin typeface="Arial"/>
                <a:ea typeface="Arial"/>
                <a:cs typeface="Arial"/>
                <a:sym typeface="Arial"/>
              </a:rPr>
              <a:t>Another recommendation is for the mall and stores in the mall to consider the age of the customers spending the most, when running promotions and ordering product,  to attract them to the mall, which will provide the opportunity for higher sales and revenue.</a:t>
            </a:r>
            <a:endParaRPr sz="1020"/>
          </a:p>
        </p:txBody>
      </p:sp>
      <p:sp>
        <p:nvSpPr>
          <p:cNvPr id="175" name="Google Shape;17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t>Next. we will discuss possible next steps and answer any questions</a:t>
            </a:r>
            <a:endParaRPr/>
          </a:p>
        </p:txBody>
      </p:sp>
      <p:sp>
        <p:nvSpPr>
          <p:cNvPr id="183" name="Google Shape;183;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SzPts val="1400"/>
              <a:buNone/>
            </a:pPr>
            <a:r>
              <a:rPr lang="en-US" sz="1110">
                <a:latin typeface="Arial"/>
                <a:ea typeface="Arial"/>
                <a:cs typeface="Arial"/>
                <a:sym typeface="Arial"/>
              </a:rPr>
              <a:t>As part of the next steps with this analysis, it would be to the advantage of everyone to update this data to be as current as possible, ideally as of Q2 2021, but having the data through the end of 2020 will be helpful as well. With updated data, the current tests can be re-run and new tests could possibly be run. Everyone will then have a better idea of whether the tests performed in this analysis remain the same or if the results change. It will also help the mall and the mall stores to know if their efforts to attract customers are targeting the correct customers. </a:t>
            </a:r>
            <a:endParaRPr sz="1110">
              <a:latin typeface="Arial"/>
              <a:ea typeface="Arial"/>
              <a:cs typeface="Arial"/>
              <a:sym typeface="Arial"/>
            </a:endParaRPr>
          </a:p>
          <a:p>
            <a:pPr indent="0" lvl="0" marL="0" rtl="0" algn="l">
              <a:lnSpc>
                <a:spcPct val="70000"/>
              </a:lnSpc>
              <a:spcBef>
                <a:spcPts val="0"/>
              </a:spcBef>
              <a:spcAft>
                <a:spcPts val="0"/>
              </a:spcAft>
              <a:buSzPts val="1400"/>
              <a:buNone/>
            </a:pPr>
            <a:r>
              <a:t/>
            </a:r>
            <a:endParaRPr sz="1110">
              <a:latin typeface="Arial"/>
              <a:ea typeface="Arial"/>
              <a:cs typeface="Arial"/>
              <a:sym typeface="Arial"/>
            </a:endParaRPr>
          </a:p>
          <a:p>
            <a:pPr indent="0" lvl="0" marL="0" rtl="0" algn="l">
              <a:lnSpc>
                <a:spcPct val="70000"/>
              </a:lnSpc>
              <a:spcBef>
                <a:spcPts val="0"/>
              </a:spcBef>
              <a:spcAft>
                <a:spcPts val="0"/>
              </a:spcAft>
              <a:buSzPts val="1400"/>
              <a:buNone/>
            </a:pPr>
            <a:r>
              <a:rPr lang="en-US" sz="1110">
                <a:latin typeface="Arial"/>
                <a:ea typeface="Arial"/>
                <a:cs typeface="Arial"/>
                <a:sym typeface="Arial"/>
              </a:rPr>
              <a:t>The second recommendation is to have a list of the stores in the mall along with their product category, product price range, and what they feel is their customer demographics (age, gender, etc). This will again help the mall to know whether to target males vs females and which age ranges are the malls best customers. By having this information, the mall can also try to attract people who are in the lower spending range in effort to get them to spend more and increase revenue.</a:t>
            </a:r>
            <a:endParaRPr sz="1110">
              <a:latin typeface="Arial"/>
              <a:ea typeface="Arial"/>
              <a:cs typeface="Arial"/>
              <a:sym typeface="Arial"/>
            </a:endParaRPr>
          </a:p>
          <a:p>
            <a:pPr indent="0" lvl="0" marL="0" rtl="0" algn="l">
              <a:lnSpc>
                <a:spcPct val="70000"/>
              </a:lnSpc>
              <a:spcBef>
                <a:spcPts val="0"/>
              </a:spcBef>
              <a:spcAft>
                <a:spcPts val="0"/>
              </a:spcAft>
              <a:buSzPts val="1400"/>
              <a:buNone/>
            </a:pPr>
            <a:r>
              <a:t/>
            </a:r>
            <a:endParaRPr sz="1110">
              <a:latin typeface="Arial"/>
              <a:ea typeface="Arial"/>
              <a:cs typeface="Arial"/>
              <a:sym typeface="Arial"/>
            </a:endParaRPr>
          </a:p>
          <a:p>
            <a:pPr indent="0" lvl="0" marL="0" rtl="0" algn="l">
              <a:lnSpc>
                <a:spcPct val="70000"/>
              </a:lnSpc>
              <a:spcBef>
                <a:spcPts val="0"/>
              </a:spcBef>
              <a:spcAft>
                <a:spcPts val="0"/>
              </a:spcAft>
              <a:buSzPts val="1400"/>
              <a:buNone/>
            </a:pPr>
            <a:r>
              <a:rPr lang="en-US" sz="1110">
                <a:latin typeface="Arial"/>
                <a:ea typeface="Arial"/>
                <a:cs typeface="Arial"/>
                <a:sym typeface="Arial"/>
              </a:rPr>
              <a:t>It would also be helpful if the stores could provide when their sales/revenue is the highest excluding the Holiday/Christmas selling season to not skew the data. With this information, analysis could be performed for the mall to better run promotions to bring customers into the mall and the stores in order to increase revenue for both the mall and the stores. The mall could then run promotions when the stores have the lower revenue which will help increase customers coming to the mall.</a:t>
            </a:r>
            <a:endParaRPr sz="1110">
              <a:latin typeface="Arial"/>
              <a:ea typeface="Arial"/>
              <a:cs typeface="Arial"/>
              <a:sym typeface="Arial"/>
            </a:endParaRPr>
          </a:p>
          <a:p>
            <a:pPr indent="0" lvl="0" marL="0" rtl="0" algn="l">
              <a:lnSpc>
                <a:spcPct val="70000"/>
              </a:lnSpc>
              <a:spcBef>
                <a:spcPts val="0"/>
              </a:spcBef>
              <a:spcAft>
                <a:spcPts val="0"/>
              </a:spcAft>
              <a:buSzPts val="1400"/>
              <a:buNone/>
            </a:pPr>
            <a:r>
              <a:t/>
            </a:r>
            <a:endParaRPr sz="1110">
              <a:latin typeface="Arial"/>
              <a:ea typeface="Arial"/>
              <a:cs typeface="Arial"/>
              <a:sym typeface="Arial"/>
            </a:endParaRPr>
          </a:p>
          <a:p>
            <a:pPr indent="0" lvl="0" marL="0" rtl="0" algn="l">
              <a:lnSpc>
                <a:spcPct val="70000"/>
              </a:lnSpc>
              <a:spcBef>
                <a:spcPts val="0"/>
              </a:spcBef>
              <a:spcAft>
                <a:spcPts val="0"/>
              </a:spcAft>
              <a:buSzPts val="1400"/>
              <a:buNone/>
            </a:pPr>
            <a:r>
              <a:rPr lang="en-US" sz="1110">
                <a:latin typeface="Arial"/>
                <a:ea typeface="Arial"/>
                <a:cs typeface="Arial"/>
                <a:sym typeface="Arial"/>
              </a:rPr>
              <a:t>In addition to the mall promoting the stores when the stores have the highest sales or the best promotions, the mall could work with the stores to promote the benefits of becoming a member of the mall. This should increase the mall revenue and will make it so customers want to come back to the mall and shop because of the membership rewards.</a:t>
            </a:r>
            <a:endParaRPr sz="1110">
              <a:latin typeface="Arial"/>
              <a:ea typeface="Arial"/>
              <a:cs typeface="Arial"/>
              <a:sym typeface="Arial"/>
            </a:endParaRPr>
          </a:p>
        </p:txBody>
      </p:sp>
      <p:sp>
        <p:nvSpPr>
          <p:cNvPr id="192" name="Google Shape;192;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Are there any questions I can answer?</a:t>
            </a:r>
            <a:endParaRPr>
              <a:latin typeface="Arial"/>
              <a:ea typeface="Arial"/>
              <a:cs typeface="Arial"/>
              <a:sym typeface="Arial"/>
            </a:endParaRPr>
          </a:p>
        </p:txBody>
      </p:sp>
      <p:sp>
        <p:nvSpPr>
          <p:cNvPr id="200" name="Google Shape;20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latin typeface="Arial"/>
                <a:ea typeface="Arial"/>
                <a:cs typeface="Arial"/>
                <a:sym typeface="Arial"/>
              </a:rPr>
              <a:t>Additional results of these two tests can be found in the appendix along with links to the website where the dataset was downloaded, the Excel spreadsheet with the data used in the analyses along with the notebook used to run the test. A copy of this presentation will be emailed to everyone.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If you have any further questions, don’t hesitate to call or email me.</a:t>
            </a:r>
            <a:endParaRPr/>
          </a:p>
        </p:txBody>
      </p:sp>
      <p:sp>
        <p:nvSpPr>
          <p:cNvPr id="206" name="Google Shape;20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5" name="Shape 15"/>
        <p:cNvGrpSpPr/>
        <p:nvPr/>
      </p:nvGrpSpPr>
      <p:grpSpPr>
        <a:xfrm>
          <a:off x="0" y="0"/>
          <a:ext cx="0" cy="0"/>
          <a:chOff x="0" y="0"/>
          <a:chExt cx="0" cy="0"/>
        </a:xfrm>
      </p:grpSpPr>
      <p:pic>
        <p:nvPicPr>
          <p:cNvPr id="16" name="Google Shape;16;p18"/>
          <p:cNvPicPr preferRelativeResize="0"/>
          <p:nvPr/>
        </p:nvPicPr>
        <p:blipFill rotWithShape="1">
          <a:blip r:embed="rId2">
            <a:alphaModFix/>
          </a:blip>
          <a:srcRect b="0" l="0" r="0" t="0"/>
          <a:stretch/>
        </p:blipFill>
        <p:spPr>
          <a:xfrm>
            <a:off x="378" y="283"/>
            <a:ext cx="9143244" cy="6857433"/>
          </a:xfrm>
          <a:prstGeom prst="rect">
            <a:avLst/>
          </a:prstGeom>
          <a:noFill/>
          <a:ln>
            <a:noFill/>
          </a:ln>
        </p:spPr>
      </p:pic>
      <p:sp>
        <p:nvSpPr>
          <p:cNvPr id="17" name="Google Shape;17;p18"/>
          <p:cNvSpPr txBox="1"/>
          <p:nvPr>
            <p:ph idx="10" type="dt"/>
          </p:nvPr>
        </p:nvSpPr>
        <p:spPr>
          <a:xfrm>
            <a:off x="457200" y="6429396"/>
            <a:ext cx="2133600" cy="29207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8"/>
          <p:cNvSpPr txBox="1"/>
          <p:nvPr>
            <p:ph idx="11" type="ftr"/>
          </p:nvPr>
        </p:nvSpPr>
        <p:spPr>
          <a:xfrm>
            <a:off x="3124200" y="6429396"/>
            <a:ext cx="2895600" cy="29207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18"/>
          <p:cNvSpPr txBox="1"/>
          <p:nvPr>
            <p:ph type="ctrTitle"/>
          </p:nvPr>
        </p:nvSpPr>
        <p:spPr>
          <a:xfrm>
            <a:off x="661832" y="1556793"/>
            <a:ext cx="3966457" cy="1585856"/>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hlink"/>
              </a:buClr>
              <a:buSzPts val="5400"/>
              <a:buFont typeface="Gulimche"/>
              <a:buNone/>
              <a:defRPr sz="5400">
                <a:solidFill>
                  <a:srgbClr val="776344"/>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bg>
      <p:bgPr>
        <a:solidFill>
          <a:schemeClr val="lt1"/>
        </a:solidFill>
      </p:bgPr>
    </p:bg>
    <p:spTree>
      <p:nvGrpSpPr>
        <p:cNvPr id="21" name="Shape 21"/>
        <p:cNvGrpSpPr/>
        <p:nvPr/>
      </p:nvGrpSpPr>
      <p:grpSpPr>
        <a:xfrm>
          <a:off x="0" y="0"/>
          <a:ext cx="0" cy="0"/>
          <a:chOff x="0" y="0"/>
          <a:chExt cx="0" cy="0"/>
        </a:xfrm>
      </p:grpSpPr>
      <p:pic>
        <p:nvPicPr>
          <p:cNvPr id="22" name="Google Shape;22;p19"/>
          <p:cNvPicPr preferRelativeResize="0"/>
          <p:nvPr/>
        </p:nvPicPr>
        <p:blipFill rotWithShape="1">
          <a:blip r:embed="rId2">
            <a:alphaModFix/>
          </a:blip>
          <a:srcRect b="0" l="0" r="0" t="0"/>
          <a:stretch/>
        </p:blipFill>
        <p:spPr>
          <a:xfrm>
            <a:off x="378" y="283"/>
            <a:ext cx="9143244" cy="6857433"/>
          </a:xfrm>
          <a:prstGeom prst="rect">
            <a:avLst/>
          </a:prstGeom>
          <a:noFill/>
          <a:ln>
            <a:noFill/>
          </a:ln>
        </p:spPr>
      </p:pic>
      <p:sp>
        <p:nvSpPr>
          <p:cNvPr id="23" name="Google Shape;23;p19"/>
          <p:cNvSpPr txBox="1"/>
          <p:nvPr>
            <p:ph idx="10" type="dt"/>
          </p:nvPr>
        </p:nvSpPr>
        <p:spPr>
          <a:xfrm>
            <a:off x="457200" y="6429396"/>
            <a:ext cx="2133600" cy="29207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9"/>
          <p:cNvSpPr txBox="1"/>
          <p:nvPr>
            <p:ph idx="11" type="ftr"/>
          </p:nvPr>
        </p:nvSpPr>
        <p:spPr>
          <a:xfrm>
            <a:off x="3124200" y="6429396"/>
            <a:ext cx="2895600" cy="29207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사용자 지정 레이아웃">
  <p:cSld name="1_사용자 지정 레이아웃">
    <p:bg>
      <p:bgPr>
        <a:solidFill>
          <a:schemeClr val="lt1"/>
        </a:solidFill>
      </p:bgPr>
    </p:bg>
    <p:spTree>
      <p:nvGrpSpPr>
        <p:cNvPr id="26" name="Shape 26"/>
        <p:cNvGrpSpPr/>
        <p:nvPr/>
      </p:nvGrpSpPr>
      <p:grpSpPr>
        <a:xfrm>
          <a:off x="0" y="0"/>
          <a:ext cx="0" cy="0"/>
          <a:chOff x="0" y="0"/>
          <a:chExt cx="0" cy="0"/>
        </a:xfrm>
      </p:grpSpPr>
      <p:pic>
        <p:nvPicPr>
          <p:cNvPr id="27" name="Google Shape;27;p20"/>
          <p:cNvPicPr preferRelativeResize="0"/>
          <p:nvPr/>
        </p:nvPicPr>
        <p:blipFill rotWithShape="1">
          <a:blip r:embed="rId2">
            <a:alphaModFix/>
          </a:blip>
          <a:srcRect b="0" l="0" r="0" t="0"/>
          <a:stretch/>
        </p:blipFill>
        <p:spPr>
          <a:xfrm>
            <a:off x="378" y="283"/>
            <a:ext cx="9143244" cy="6857433"/>
          </a:xfrm>
          <a:prstGeom prst="rect">
            <a:avLst/>
          </a:prstGeom>
          <a:noFill/>
          <a:ln>
            <a:noFill/>
          </a:ln>
        </p:spPr>
      </p:pic>
      <p:sp>
        <p:nvSpPr>
          <p:cNvPr id="28" name="Google Shape;28;p20"/>
          <p:cNvSpPr txBox="1"/>
          <p:nvPr>
            <p:ph idx="10" type="dt"/>
          </p:nvPr>
        </p:nvSpPr>
        <p:spPr>
          <a:xfrm>
            <a:off x="457200" y="6429396"/>
            <a:ext cx="2133600" cy="29207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1" type="ftr"/>
          </p:nvPr>
        </p:nvSpPr>
        <p:spPr>
          <a:xfrm>
            <a:off x="3124200" y="6429396"/>
            <a:ext cx="2895600" cy="29207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7F7F7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20"/>
          <p:cNvSpPr txBox="1"/>
          <p:nvPr>
            <p:ph type="ctrTitle"/>
          </p:nvPr>
        </p:nvSpPr>
        <p:spPr>
          <a:xfrm>
            <a:off x="302211" y="2845093"/>
            <a:ext cx="8539579" cy="1303987"/>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chemeClr val="hlink"/>
              </a:buClr>
              <a:buSzPts val="7000"/>
              <a:buFont typeface="Gulimche"/>
              <a:buNone/>
              <a:defRPr sz="7000">
                <a:solidFill>
                  <a:srgbClr val="776344"/>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사용자 지정 레이아웃">
  <p:cSld name="사용자 지정 레이아웃">
    <p:bg>
      <p:bgPr>
        <a:solidFill>
          <a:schemeClr val="lt1"/>
        </a:solidFill>
      </p:bgPr>
    </p:bg>
    <p:spTree>
      <p:nvGrpSpPr>
        <p:cNvPr id="32" name="Shape 32"/>
        <p:cNvGrpSpPr/>
        <p:nvPr/>
      </p:nvGrpSpPr>
      <p:grpSpPr>
        <a:xfrm>
          <a:off x="0" y="0"/>
          <a:ext cx="0" cy="0"/>
          <a:chOff x="0" y="0"/>
          <a:chExt cx="0" cy="0"/>
        </a:xfrm>
      </p:grpSpPr>
      <p:pic>
        <p:nvPicPr>
          <p:cNvPr id="33" name="Google Shape;33;p21"/>
          <p:cNvPicPr preferRelativeResize="0"/>
          <p:nvPr/>
        </p:nvPicPr>
        <p:blipFill rotWithShape="1">
          <a:blip r:embed="rId2">
            <a:alphaModFix/>
          </a:blip>
          <a:srcRect b="0" l="0" r="0" t="0"/>
          <a:stretch/>
        </p:blipFill>
        <p:spPr>
          <a:xfrm>
            <a:off x="378" y="283"/>
            <a:ext cx="9143244" cy="6857433"/>
          </a:xfrm>
          <a:prstGeom prst="rect">
            <a:avLst/>
          </a:prstGeom>
          <a:noFill/>
          <a:ln>
            <a:noFill/>
          </a:ln>
        </p:spPr>
      </p:pic>
      <p:sp>
        <p:nvSpPr>
          <p:cNvPr id="34" name="Google Shape;34;p21"/>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D3323"/>
              </a:buClr>
              <a:buSzPts val="2500"/>
              <a:buFont typeface="Calibri"/>
              <a:buNone/>
              <a:defRPr b="1" sz="2500">
                <a:solidFill>
                  <a:srgbClr val="3D3323"/>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0" type="dt"/>
          </p:nvPr>
        </p:nvSpPr>
        <p:spPr>
          <a:xfrm>
            <a:off x="457200" y="6429396"/>
            <a:ext cx="2133600" cy="29207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1" type="ftr"/>
          </p:nvPr>
        </p:nvSpPr>
        <p:spPr>
          <a:xfrm>
            <a:off x="3124200" y="6429396"/>
            <a:ext cx="2895600" cy="29207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1"/>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21"/>
          <p:cNvSpPr txBox="1"/>
          <p:nvPr>
            <p:ph idx="1" type="body"/>
          </p:nvPr>
        </p:nvSpPr>
        <p:spPr>
          <a:xfrm>
            <a:off x="395536" y="1268760"/>
            <a:ext cx="8402525" cy="509771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1pPr>
            <a:lvl2pPr indent="-228600" lvl="1" marL="9144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2pPr>
            <a:lvl3pPr indent="-228600" lvl="2" marL="13716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3pPr>
            <a:lvl4pPr indent="-228600" lvl="3" marL="18288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4pPr>
            <a:lvl5pPr indent="-228600" lvl="4" marL="22860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제목 및 내용">
    <p:bg>
      <p:bgPr>
        <a:solidFill>
          <a:schemeClr val="lt1"/>
        </a:solidFill>
      </p:bgPr>
    </p:bg>
    <p:spTree>
      <p:nvGrpSpPr>
        <p:cNvPr id="39" name="Shape 39"/>
        <p:cNvGrpSpPr/>
        <p:nvPr/>
      </p:nvGrpSpPr>
      <p:grpSpPr>
        <a:xfrm>
          <a:off x="0" y="0"/>
          <a:ext cx="0" cy="0"/>
          <a:chOff x="0" y="0"/>
          <a:chExt cx="0" cy="0"/>
        </a:xfrm>
      </p:grpSpPr>
      <p:pic>
        <p:nvPicPr>
          <p:cNvPr id="40" name="Google Shape;40;p22"/>
          <p:cNvPicPr preferRelativeResize="0"/>
          <p:nvPr/>
        </p:nvPicPr>
        <p:blipFill rotWithShape="1">
          <a:blip r:embed="rId2">
            <a:alphaModFix/>
          </a:blip>
          <a:srcRect b="0" l="0" r="0" t="0"/>
          <a:stretch/>
        </p:blipFill>
        <p:spPr>
          <a:xfrm>
            <a:off x="378" y="283"/>
            <a:ext cx="9143244" cy="6857433"/>
          </a:xfrm>
          <a:prstGeom prst="rect">
            <a:avLst/>
          </a:prstGeom>
          <a:noFill/>
          <a:ln>
            <a:noFill/>
          </a:ln>
        </p:spPr>
      </p:pic>
      <p:sp>
        <p:nvSpPr>
          <p:cNvPr id="41" name="Google Shape;41;p22"/>
          <p:cNvSpPr txBox="1"/>
          <p:nvPr>
            <p:ph idx="10" type="dt"/>
          </p:nvPr>
        </p:nvSpPr>
        <p:spPr>
          <a:xfrm>
            <a:off x="457200" y="6500834"/>
            <a:ext cx="2133600" cy="22064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1" type="ftr"/>
          </p:nvPr>
        </p:nvSpPr>
        <p:spPr>
          <a:xfrm>
            <a:off x="3124200" y="6500834"/>
            <a:ext cx="2895600" cy="22064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2" type="sldNum"/>
          </p:nvPr>
        </p:nvSpPr>
        <p:spPr>
          <a:xfrm>
            <a:off x="6553200" y="6500834"/>
            <a:ext cx="2133600" cy="22064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22"/>
          <p:cNvSpPr txBox="1"/>
          <p:nvPr>
            <p:ph idx="1" type="body"/>
          </p:nvPr>
        </p:nvSpPr>
        <p:spPr>
          <a:xfrm>
            <a:off x="395536" y="1196752"/>
            <a:ext cx="8402525" cy="516971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1pPr>
            <a:lvl2pPr indent="-228600" lvl="1" marL="9144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2pPr>
            <a:lvl3pPr indent="-228600" lvl="2" marL="13716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3pPr>
            <a:lvl4pPr indent="-228600" lvl="3" marL="18288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4pPr>
            <a:lvl5pPr indent="-228600" lvl="4" marL="2286000" algn="l">
              <a:lnSpc>
                <a:spcPct val="100000"/>
              </a:lnSpc>
              <a:spcBef>
                <a:spcPts val="320"/>
              </a:spcBef>
              <a:spcAft>
                <a:spcPts val="0"/>
              </a:spcAft>
              <a:buClr>
                <a:srgbClr val="7F7F7F"/>
              </a:buClr>
              <a:buSzPts val="1600"/>
              <a:buNone/>
              <a:defRPr i="1" sz="1600">
                <a:solidFill>
                  <a:srgbClr val="7F7F7F"/>
                </a:solidFill>
                <a:latin typeface="Calibri"/>
                <a:ea typeface="Calibri"/>
                <a:cs typeface="Calibri"/>
                <a:sym typeface="Calibri"/>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5" name="Google Shape;45;p22"/>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500"/>
              <a:buFont typeface="Calibri"/>
              <a:buNone/>
              <a:defRPr b="1" sz="25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p:cSld name="구역 머리글">
    <p:bg>
      <p:bgPr>
        <a:solidFill>
          <a:schemeClr val="lt1"/>
        </a:solidFill>
      </p:bgPr>
    </p:bg>
    <p:spTree>
      <p:nvGrpSpPr>
        <p:cNvPr id="46" name="Shape 46"/>
        <p:cNvGrpSpPr/>
        <p:nvPr/>
      </p:nvGrpSpPr>
      <p:grpSpPr>
        <a:xfrm>
          <a:off x="0" y="0"/>
          <a:ext cx="0" cy="0"/>
          <a:chOff x="0" y="0"/>
          <a:chExt cx="0" cy="0"/>
        </a:xfrm>
      </p:grpSpPr>
      <p:pic>
        <p:nvPicPr>
          <p:cNvPr id="47" name="Google Shape;47;p23"/>
          <p:cNvPicPr preferRelativeResize="0"/>
          <p:nvPr/>
        </p:nvPicPr>
        <p:blipFill rotWithShape="1">
          <a:blip r:embed="rId2">
            <a:alphaModFix/>
          </a:blip>
          <a:srcRect b="0" l="0" r="0" t="0"/>
          <a:stretch/>
        </p:blipFill>
        <p:spPr>
          <a:xfrm>
            <a:off x="378" y="283"/>
            <a:ext cx="9143244" cy="6857433"/>
          </a:xfrm>
          <a:prstGeom prst="rect">
            <a:avLst/>
          </a:prstGeom>
          <a:noFill/>
          <a:ln>
            <a:noFill/>
          </a:ln>
        </p:spPr>
      </p:pic>
      <p:sp>
        <p:nvSpPr>
          <p:cNvPr id="48" name="Google Shape;48;p23"/>
          <p:cNvSpPr txBox="1"/>
          <p:nvPr>
            <p:ph idx="10" type="dt"/>
          </p:nvPr>
        </p:nvSpPr>
        <p:spPr>
          <a:xfrm>
            <a:off x="457200" y="6429396"/>
            <a:ext cx="2133600" cy="29207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1" type="ftr"/>
          </p:nvPr>
        </p:nvSpPr>
        <p:spPr>
          <a:xfrm>
            <a:off x="3124200" y="6429396"/>
            <a:ext cx="2895600" cy="29207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3"/>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457200" y="19026"/>
            <a:ext cx="8229600" cy="796908"/>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3500"/>
              <a:buFont typeface="Malgun Gothic"/>
              <a:buNone/>
              <a:defRPr b="0" i="0" sz="3500" u="none" cap="none" strike="noStrike">
                <a:solidFill>
                  <a:srgbClr val="000000"/>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457200" y="1062021"/>
            <a:ext cx="8229600" cy="5286412"/>
          </a:xfrm>
          <a:prstGeom prst="rect">
            <a:avLst/>
          </a:prstGeom>
          <a:noFill/>
          <a:ln>
            <a:noFill/>
          </a:ln>
        </p:spPr>
        <p:txBody>
          <a:bodyPr anchorCtr="0" anchor="t" bIns="45700" lIns="91425" spcFirstLastPara="1" rIns="91425" wrap="square" tIns="45700">
            <a:normAutofit/>
          </a:bodyPr>
          <a:lstStyle>
            <a:lvl1pPr indent="-387350" lvl="0" marL="457200" marR="0" rtl="0" algn="l">
              <a:lnSpc>
                <a:spcPct val="100000"/>
              </a:lnSpc>
              <a:spcBef>
                <a:spcPts val="500"/>
              </a:spcBef>
              <a:spcAft>
                <a:spcPts val="0"/>
              </a:spcAft>
              <a:buClr>
                <a:schemeClr val="dk1"/>
              </a:buClr>
              <a:buSzPts val="2500"/>
              <a:buFont typeface="Arial"/>
              <a:buChar char="•"/>
              <a:defRPr b="0" i="0" sz="2500" u="none" cap="none" strike="noStrike">
                <a:solidFill>
                  <a:schemeClr val="dk1"/>
                </a:solidFill>
                <a:latin typeface="Malgun Gothic"/>
                <a:ea typeface="Malgun Gothic"/>
                <a:cs typeface="Malgun Gothic"/>
                <a:sym typeface="Malgun Gothic"/>
              </a:defRPr>
            </a:lvl1pPr>
            <a:lvl2pPr indent="-342900" lvl="1" marL="914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457200" y="6429396"/>
            <a:ext cx="2133600" cy="29207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3124200" y="6429396"/>
            <a:ext cx="2895600" cy="292079"/>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vmlDrawing" Target="../drawings/vmlDrawing1.vml"/><Relationship Id="rId4" Type="http://schemas.openxmlformats.org/officeDocument/2006/relationships/package" Target="../embeddings/Microsoft_Excel_Sheet1.xlsx"/><Relationship Id="rId5" Type="http://schemas.openxmlformats.org/officeDocument/2006/relationships/package" Target="../embeddings/Microsoft_Excel_Sheet1.xlsx"/><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vmlDrawing" Target="../drawings/vmlDrawing2.vml"/><Relationship Id="rId4" Type="http://schemas.openxmlformats.org/officeDocument/2006/relationships/package" Target="../embeddings/Microsoft_Excel_Sheet2.xlsx"/><Relationship Id="rId5" Type="http://schemas.openxmlformats.org/officeDocument/2006/relationships/package" Target="../embeddings/Microsoft_Excel_Sheet2.xlsx"/><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www.kaggle.com/kandij/mall-customers" TargetMode="External"/><Relationship Id="rId4" Type="http://schemas.openxmlformats.org/officeDocument/2006/relationships/hyperlink" Target="https://docs.google.com/spreadsheets/d/1N6WYChsGVTl0dYDfXCGSGrzNKwXu78BA/edit?usp=sharing&amp;ouid=107830551552802508870&amp;rtpof=true&amp;sd=true" TargetMode="External"/><Relationship Id="rId5" Type="http://schemas.openxmlformats.org/officeDocument/2006/relationships/hyperlink" Target="https://colab.research.google.com/drive/13HlBbirhWxXIeU4w62EHxPPeBztjKbgN?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661832" y="1556792"/>
            <a:ext cx="3966457" cy="1585856"/>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hlink"/>
              </a:buClr>
              <a:buSzPts val="5200"/>
              <a:buFont typeface="Gulimche"/>
              <a:buNone/>
            </a:pPr>
            <a:r>
              <a:rPr lang="en-US" sz="5200"/>
              <a:t>Mall Customers</a:t>
            </a:r>
            <a:endParaRPr b="1"/>
          </a:p>
        </p:txBody>
      </p:sp>
      <p:sp>
        <p:nvSpPr>
          <p:cNvPr id="57" name="Google Shape;57;p1"/>
          <p:cNvSpPr/>
          <p:nvPr/>
        </p:nvSpPr>
        <p:spPr>
          <a:xfrm>
            <a:off x="934147" y="3339800"/>
            <a:ext cx="3421830"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776344"/>
                </a:solidFill>
                <a:latin typeface="Calibri"/>
                <a:ea typeface="Calibri"/>
                <a:cs typeface="Calibri"/>
                <a:sym typeface="Calibri"/>
              </a:rPr>
              <a:t>By Sheri Dutter,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776344"/>
                </a:solidFill>
                <a:latin typeface="Calibri"/>
                <a:ea typeface="Calibri"/>
                <a:cs typeface="Calibri"/>
                <a:sym typeface="Calibri"/>
              </a:rPr>
              <a:t>Thinkful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776344"/>
                </a:solidFill>
                <a:latin typeface="Calibri"/>
                <a:ea typeface="Calibri"/>
                <a:cs typeface="Calibri"/>
                <a:sym typeface="Calibri"/>
              </a:rPr>
              <a:t>November 2021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nvSpPr>
        <p:spPr>
          <a:xfrm>
            <a:off x="971600" y="1526642"/>
            <a:ext cx="2308699" cy="553998"/>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Calibri"/>
                <a:ea typeface="Calibri"/>
                <a:cs typeface="Calibri"/>
                <a:sym typeface="Calibri"/>
              </a:rPr>
              <a:t>CONTENTS</a:t>
            </a:r>
            <a:endParaRPr b="1" i="0" sz="3000" u="none" cap="none" strike="noStrike">
              <a:solidFill>
                <a:schemeClr val="lt1"/>
              </a:solidFill>
              <a:latin typeface="Calibri"/>
              <a:ea typeface="Calibri"/>
              <a:cs typeface="Calibri"/>
              <a:sym typeface="Calibri"/>
            </a:endParaRPr>
          </a:p>
        </p:txBody>
      </p:sp>
      <p:grpSp>
        <p:nvGrpSpPr>
          <p:cNvPr id="63" name="Google Shape;63;p2"/>
          <p:cNvGrpSpPr/>
          <p:nvPr/>
        </p:nvGrpSpPr>
        <p:grpSpPr>
          <a:xfrm>
            <a:off x="3784675" y="3996596"/>
            <a:ext cx="5107840" cy="587514"/>
            <a:chOff x="3813908" y="4767531"/>
            <a:chExt cx="5107840" cy="587514"/>
          </a:xfrm>
        </p:grpSpPr>
        <p:sp>
          <p:nvSpPr>
            <p:cNvPr id="64" name="Google Shape;64;p2"/>
            <p:cNvSpPr txBox="1"/>
            <p:nvPr/>
          </p:nvSpPr>
          <p:spPr>
            <a:xfrm>
              <a:off x="4284503" y="4785163"/>
              <a:ext cx="22569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Recommendation</a:t>
              </a:r>
              <a:endParaRPr b="0" i="0" sz="1400" u="none" cap="none" strike="noStrike">
                <a:solidFill>
                  <a:srgbClr val="000000"/>
                </a:solidFill>
                <a:latin typeface="Arial"/>
                <a:ea typeface="Arial"/>
                <a:cs typeface="Arial"/>
                <a:sym typeface="Arial"/>
              </a:endParaRPr>
            </a:p>
          </p:txBody>
        </p:sp>
        <p:sp>
          <p:nvSpPr>
            <p:cNvPr id="65" name="Google Shape;65;p2"/>
            <p:cNvSpPr txBox="1"/>
            <p:nvPr/>
          </p:nvSpPr>
          <p:spPr>
            <a:xfrm>
              <a:off x="4284503" y="5099911"/>
              <a:ext cx="4637245" cy="255134"/>
            </a:xfrm>
            <a:prstGeom prst="rect">
              <a:avLst/>
            </a:prstGeom>
            <a:noFill/>
            <a:ln>
              <a:noFill/>
            </a:ln>
          </p:spPr>
          <p:txBody>
            <a:bodyPr anchorCtr="0" anchor="ctr" bIns="45700" lIns="91425" spcFirstLastPara="1" rIns="91425" wrap="square" tIns="45700">
              <a:spAutoFit/>
            </a:bodyPr>
            <a:lstStyle/>
            <a:p>
              <a:pPr indent="0" lvl="0" marL="0" marR="0" rtl="0" algn="l">
                <a:lnSpc>
                  <a:spcPct val="85714"/>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Review test results and provide recommendations</a:t>
              </a:r>
              <a:endParaRPr b="0" i="0" sz="1400" u="none" cap="none" strike="noStrike">
                <a:solidFill>
                  <a:srgbClr val="000000"/>
                </a:solidFill>
                <a:latin typeface="Arial"/>
                <a:ea typeface="Arial"/>
                <a:cs typeface="Arial"/>
                <a:sym typeface="Arial"/>
              </a:endParaRPr>
            </a:p>
          </p:txBody>
        </p:sp>
        <p:sp>
          <p:nvSpPr>
            <p:cNvPr id="66" name="Google Shape;66;p2"/>
            <p:cNvSpPr txBox="1"/>
            <p:nvPr/>
          </p:nvSpPr>
          <p:spPr>
            <a:xfrm>
              <a:off x="3813908" y="4767531"/>
              <a:ext cx="508474" cy="477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BFBFBF"/>
                  </a:solidFill>
                  <a:latin typeface="Calibri"/>
                  <a:ea typeface="Calibri"/>
                  <a:cs typeface="Calibri"/>
                  <a:sym typeface="Calibri"/>
                </a:rPr>
                <a:t>04</a:t>
              </a:r>
              <a:endParaRPr b="1" i="0" sz="2500" u="none" cap="none" strike="noStrike">
                <a:solidFill>
                  <a:srgbClr val="BFBFBF"/>
                </a:solidFill>
                <a:latin typeface="Calibri"/>
                <a:ea typeface="Calibri"/>
                <a:cs typeface="Calibri"/>
                <a:sym typeface="Calibri"/>
              </a:endParaRPr>
            </a:p>
          </p:txBody>
        </p:sp>
      </p:grpSp>
      <p:grpSp>
        <p:nvGrpSpPr>
          <p:cNvPr id="67" name="Google Shape;67;p2"/>
          <p:cNvGrpSpPr/>
          <p:nvPr/>
        </p:nvGrpSpPr>
        <p:grpSpPr>
          <a:xfrm>
            <a:off x="3813909" y="1535156"/>
            <a:ext cx="4887009" cy="643901"/>
            <a:chOff x="3813909" y="1562215"/>
            <a:chExt cx="4887009" cy="642649"/>
          </a:xfrm>
        </p:grpSpPr>
        <p:sp>
          <p:nvSpPr>
            <p:cNvPr id="68" name="Google Shape;68;p2"/>
            <p:cNvSpPr txBox="1"/>
            <p:nvPr/>
          </p:nvSpPr>
          <p:spPr>
            <a:xfrm>
              <a:off x="4322382" y="1622002"/>
              <a:ext cx="22569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sp>
          <p:nvSpPr>
            <p:cNvPr id="69" name="Google Shape;69;p2"/>
            <p:cNvSpPr txBox="1"/>
            <p:nvPr/>
          </p:nvSpPr>
          <p:spPr>
            <a:xfrm>
              <a:off x="3813909" y="1562215"/>
              <a:ext cx="508473" cy="477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BFBFBF"/>
                  </a:solidFill>
                  <a:latin typeface="Calibri"/>
                  <a:ea typeface="Calibri"/>
                  <a:cs typeface="Calibri"/>
                  <a:sym typeface="Calibri"/>
                </a:rPr>
                <a:t>01</a:t>
              </a:r>
              <a:endParaRPr b="1" i="0" sz="2500" u="none" cap="none" strike="noStrike">
                <a:solidFill>
                  <a:srgbClr val="BFBFBF"/>
                </a:solidFill>
                <a:latin typeface="Calibri"/>
                <a:ea typeface="Calibri"/>
                <a:cs typeface="Calibri"/>
                <a:sym typeface="Calibri"/>
              </a:endParaRPr>
            </a:p>
          </p:txBody>
        </p:sp>
        <p:cxnSp>
          <p:nvCxnSpPr>
            <p:cNvPr id="70" name="Google Shape;70;p2"/>
            <p:cNvCxnSpPr/>
            <p:nvPr/>
          </p:nvCxnSpPr>
          <p:spPr>
            <a:xfrm>
              <a:off x="3976272" y="2204864"/>
              <a:ext cx="4724646" cy="0"/>
            </a:xfrm>
            <a:prstGeom prst="straightConnector1">
              <a:avLst/>
            </a:prstGeom>
            <a:noFill/>
            <a:ln cap="rnd" cmpd="sng" w="9525">
              <a:solidFill>
                <a:srgbClr val="BFBFBF"/>
              </a:solidFill>
              <a:prstDash val="dot"/>
              <a:round/>
              <a:headEnd len="sm" w="sm" type="none"/>
              <a:tailEnd len="sm" w="sm" type="none"/>
            </a:ln>
          </p:spPr>
        </p:cxnSp>
      </p:grpSp>
      <p:grpSp>
        <p:nvGrpSpPr>
          <p:cNvPr id="71" name="Google Shape;71;p2"/>
          <p:cNvGrpSpPr/>
          <p:nvPr/>
        </p:nvGrpSpPr>
        <p:grpSpPr>
          <a:xfrm>
            <a:off x="3813909" y="2351651"/>
            <a:ext cx="5107839" cy="652903"/>
            <a:chOff x="3813909" y="2351651"/>
            <a:chExt cx="5107839" cy="652903"/>
          </a:xfrm>
        </p:grpSpPr>
        <p:sp>
          <p:nvSpPr>
            <p:cNvPr id="72" name="Google Shape;72;p2"/>
            <p:cNvSpPr txBox="1"/>
            <p:nvPr/>
          </p:nvSpPr>
          <p:spPr>
            <a:xfrm>
              <a:off x="4284503" y="2351651"/>
              <a:ext cx="22569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Hypothesis</a:t>
              </a:r>
              <a:r>
                <a:rPr b="1" i="0" lang="en-US" sz="1400" u="none" cap="none" strike="noStrike">
                  <a:solidFill>
                    <a:srgbClr val="3D3323"/>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Test 1</a:t>
              </a:r>
              <a:endParaRPr b="1" i="0" sz="1400" u="none" cap="none" strike="noStrike">
                <a:solidFill>
                  <a:schemeClr val="dk1"/>
                </a:solidFill>
                <a:latin typeface="Calibri"/>
                <a:ea typeface="Calibri"/>
                <a:cs typeface="Calibri"/>
                <a:sym typeface="Calibri"/>
              </a:endParaRPr>
            </a:p>
          </p:txBody>
        </p:sp>
        <p:sp>
          <p:nvSpPr>
            <p:cNvPr id="73" name="Google Shape;73;p2"/>
            <p:cNvSpPr txBox="1"/>
            <p:nvPr/>
          </p:nvSpPr>
          <p:spPr>
            <a:xfrm>
              <a:off x="4284503" y="2684110"/>
              <a:ext cx="4637245" cy="255134"/>
            </a:xfrm>
            <a:prstGeom prst="rect">
              <a:avLst/>
            </a:prstGeom>
            <a:noFill/>
            <a:ln>
              <a:noFill/>
            </a:ln>
          </p:spPr>
          <p:txBody>
            <a:bodyPr anchorCtr="0" anchor="ctr" bIns="45700" lIns="91425" spcFirstLastPara="1" rIns="91425" wrap="square" tIns="45700">
              <a:spAutoFit/>
            </a:bodyPr>
            <a:lstStyle/>
            <a:p>
              <a:pPr indent="0" lvl="0" marL="0" marR="0" rtl="0" algn="l">
                <a:lnSpc>
                  <a:spcPct val="85714"/>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Female compared to Male Spending</a:t>
              </a:r>
              <a:endParaRPr b="0" i="0" sz="1400" u="none" cap="none" strike="noStrike">
                <a:solidFill>
                  <a:srgbClr val="000000"/>
                </a:solidFill>
                <a:latin typeface="Arial"/>
                <a:ea typeface="Arial"/>
                <a:cs typeface="Arial"/>
                <a:sym typeface="Arial"/>
              </a:endParaRPr>
            </a:p>
          </p:txBody>
        </p:sp>
        <p:sp>
          <p:nvSpPr>
            <p:cNvPr id="74" name="Google Shape;74;p2"/>
            <p:cNvSpPr txBox="1"/>
            <p:nvPr/>
          </p:nvSpPr>
          <p:spPr>
            <a:xfrm>
              <a:off x="3813909" y="2363544"/>
              <a:ext cx="508473" cy="477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BFBFBF"/>
                  </a:solidFill>
                  <a:latin typeface="Calibri"/>
                  <a:ea typeface="Calibri"/>
                  <a:cs typeface="Calibri"/>
                  <a:sym typeface="Calibri"/>
                </a:rPr>
                <a:t>02</a:t>
              </a:r>
              <a:endParaRPr b="1" i="0" sz="2500" u="none" cap="none" strike="noStrike">
                <a:solidFill>
                  <a:srgbClr val="BFBFBF"/>
                </a:solidFill>
                <a:latin typeface="Calibri"/>
                <a:ea typeface="Calibri"/>
                <a:cs typeface="Calibri"/>
                <a:sym typeface="Calibri"/>
              </a:endParaRPr>
            </a:p>
          </p:txBody>
        </p:sp>
        <p:cxnSp>
          <p:nvCxnSpPr>
            <p:cNvPr id="75" name="Google Shape;75;p2"/>
            <p:cNvCxnSpPr/>
            <p:nvPr/>
          </p:nvCxnSpPr>
          <p:spPr>
            <a:xfrm>
              <a:off x="3976272" y="3004554"/>
              <a:ext cx="4724646" cy="0"/>
            </a:xfrm>
            <a:prstGeom prst="straightConnector1">
              <a:avLst/>
            </a:prstGeom>
            <a:noFill/>
            <a:ln cap="rnd" cmpd="sng" w="9525">
              <a:solidFill>
                <a:srgbClr val="BFBFBF"/>
              </a:solidFill>
              <a:prstDash val="dot"/>
              <a:round/>
              <a:headEnd len="sm" w="sm" type="none"/>
              <a:tailEnd len="sm" w="sm" type="none"/>
            </a:ln>
          </p:spPr>
        </p:cxnSp>
      </p:grpSp>
      <p:grpSp>
        <p:nvGrpSpPr>
          <p:cNvPr id="76" name="Google Shape;76;p2"/>
          <p:cNvGrpSpPr/>
          <p:nvPr/>
        </p:nvGrpSpPr>
        <p:grpSpPr>
          <a:xfrm>
            <a:off x="3813909" y="3162454"/>
            <a:ext cx="5107839" cy="641790"/>
            <a:chOff x="3813909" y="3162454"/>
            <a:chExt cx="5107839" cy="641790"/>
          </a:xfrm>
        </p:grpSpPr>
        <p:sp>
          <p:nvSpPr>
            <p:cNvPr id="77" name="Google Shape;77;p2"/>
            <p:cNvSpPr txBox="1"/>
            <p:nvPr/>
          </p:nvSpPr>
          <p:spPr>
            <a:xfrm>
              <a:off x="4284503" y="3162454"/>
              <a:ext cx="22569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Hypothesis Test 2</a:t>
              </a:r>
              <a:endParaRPr b="0" i="0" sz="1400" u="none" cap="none" strike="noStrike">
                <a:solidFill>
                  <a:srgbClr val="000000"/>
                </a:solidFill>
                <a:latin typeface="Arial"/>
                <a:ea typeface="Arial"/>
                <a:cs typeface="Arial"/>
                <a:sym typeface="Arial"/>
              </a:endParaRPr>
            </a:p>
          </p:txBody>
        </p:sp>
        <p:sp>
          <p:nvSpPr>
            <p:cNvPr id="78" name="Google Shape;78;p2"/>
            <p:cNvSpPr txBox="1"/>
            <p:nvPr/>
          </p:nvSpPr>
          <p:spPr>
            <a:xfrm>
              <a:off x="4284503" y="3485439"/>
              <a:ext cx="4637245" cy="255134"/>
            </a:xfrm>
            <a:prstGeom prst="rect">
              <a:avLst/>
            </a:prstGeom>
            <a:noFill/>
            <a:ln>
              <a:noFill/>
            </a:ln>
          </p:spPr>
          <p:txBody>
            <a:bodyPr anchorCtr="0" anchor="ctr" bIns="45700" lIns="91425" spcFirstLastPara="1" rIns="91425" wrap="square" tIns="45700">
              <a:spAutoFit/>
            </a:bodyPr>
            <a:lstStyle/>
            <a:p>
              <a:pPr indent="0" lvl="0" marL="0" marR="0" rtl="0" algn="l">
                <a:lnSpc>
                  <a:spcPct val="85714"/>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Spending of customers in 30s compared to 40s</a:t>
              </a:r>
              <a:endParaRPr b="0" i="0" sz="1400" u="none" cap="none" strike="noStrike">
                <a:solidFill>
                  <a:srgbClr val="000000"/>
                </a:solidFill>
                <a:latin typeface="Arial"/>
                <a:ea typeface="Arial"/>
                <a:cs typeface="Arial"/>
                <a:sym typeface="Arial"/>
              </a:endParaRPr>
            </a:p>
          </p:txBody>
        </p:sp>
        <p:sp>
          <p:nvSpPr>
            <p:cNvPr id="79" name="Google Shape;79;p2"/>
            <p:cNvSpPr txBox="1"/>
            <p:nvPr/>
          </p:nvSpPr>
          <p:spPr>
            <a:xfrm>
              <a:off x="3813909" y="3164873"/>
              <a:ext cx="508473" cy="477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BFBFBF"/>
                  </a:solidFill>
                  <a:latin typeface="Calibri"/>
                  <a:ea typeface="Calibri"/>
                  <a:cs typeface="Calibri"/>
                  <a:sym typeface="Calibri"/>
                </a:rPr>
                <a:t>03</a:t>
              </a:r>
              <a:endParaRPr b="1" i="0" sz="2500" u="none" cap="none" strike="noStrike">
                <a:solidFill>
                  <a:srgbClr val="BFBFBF"/>
                </a:solidFill>
                <a:latin typeface="Calibri"/>
                <a:ea typeface="Calibri"/>
                <a:cs typeface="Calibri"/>
                <a:sym typeface="Calibri"/>
              </a:endParaRPr>
            </a:p>
          </p:txBody>
        </p:sp>
        <p:cxnSp>
          <p:nvCxnSpPr>
            <p:cNvPr id="80" name="Google Shape;80;p2"/>
            <p:cNvCxnSpPr/>
            <p:nvPr/>
          </p:nvCxnSpPr>
          <p:spPr>
            <a:xfrm>
              <a:off x="3976272" y="3804244"/>
              <a:ext cx="4724646" cy="0"/>
            </a:xfrm>
            <a:prstGeom prst="straightConnector1">
              <a:avLst/>
            </a:prstGeom>
            <a:noFill/>
            <a:ln cap="rnd" cmpd="sng" w="9525">
              <a:solidFill>
                <a:srgbClr val="BFBFBF"/>
              </a:solidFill>
              <a:prstDash val="dot"/>
              <a:round/>
              <a:headEnd len="sm" w="sm" type="none"/>
              <a:tailEnd len="sm" w="sm" type="none"/>
            </a:ln>
          </p:spPr>
        </p:cxnSp>
      </p:grpSp>
      <p:grpSp>
        <p:nvGrpSpPr>
          <p:cNvPr id="81" name="Google Shape;81;p2"/>
          <p:cNvGrpSpPr/>
          <p:nvPr/>
        </p:nvGrpSpPr>
        <p:grpSpPr>
          <a:xfrm>
            <a:off x="3813908" y="4708379"/>
            <a:ext cx="4887010" cy="614464"/>
            <a:chOff x="3813908" y="3966202"/>
            <a:chExt cx="4887010" cy="637733"/>
          </a:xfrm>
        </p:grpSpPr>
        <p:sp>
          <p:nvSpPr>
            <p:cNvPr id="82" name="Google Shape;82;p2"/>
            <p:cNvSpPr txBox="1"/>
            <p:nvPr/>
          </p:nvSpPr>
          <p:spPr>
            <a:xfrm>
              <a:off x="4284503" y="4033388"/>
              <a:ext cx="22569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Next Steps and Q&amp;A</a:t>
              </a:r>
              <a:endParaRPr b="0" i="0" sz="1400" u="none" cap="none" strike="noStrike">
                <a:solidFill>
                  <a:srgbClr val="000000"/>
                </a:solidFill>
                <a:latin typeface="Arial"/>
                <a:ea typeface="Arial"/>
                <a:cs typeface="Arial"/>
                <a:sym typeface="Arial"/>
              </a:endParaRPr>
            </a:p>
          </p:txBody>
        </p:sp>
        <p:sp>
          <p:nvSpPr>
            <p:cNvPr id="83" name="Google Shape;83;p2"/>
            <p:cNvSpPr txBox="1"/>
            <p:nvPr/>
          </p:nvSpPr>
          <p:spPr>
            <a:xfrm>
              <a:off x="3813908" y="3966202"/>
              <a:ext cx="508474" cy="477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BFBFBF"/>
                  </a:solidFill>
                  <a:latin typeface="Calibri"/>
                  <a:ea typeface="Calibri"/>
                  <a:cs typeface="Calibri"/>
                  <a:sym typeface="Calibri"/>
                </a:rPr>
                <a:t>05</a:t>
              </a:r>
              <a:endParaRPr b="1" i="0" sz="2500" u="none" cap="none" strike="noStrike">
                <a:solidFill>
                  <a:srgbClr val="BFBFBF"/>
                </a:solidFill>
                <a:latin typeface="Calibri"/>
                <a:ea typeface="Calibri"/>
                <a:cs typeface="Calibri"/>
                <a:sym typeface="Calibri"/>
              </a:endParaRPr>
            </a:p>
          </p:txBody>
        </p:sp>
        <p:cxnSp>
          <p:nvCxnSpPr>
            <p:cNvPr id="84" name="Google Shape;84;p2"/>
            <p:cNvCxnSpPr/>
            <p:nvPr/>
          </p:nvCxnSpPr>
          <p:spPr>
            <a:xfrm>
              <a:off x="3976272" y="4603935"/>
              <a:ext cx="4724646" cy="0"/>
            </a:xfrm>
            <a:prstGeom prst="straightConnector1">
              <a:avLst/>
            </a:prstGeom>
            <a:noFill/>
            <a:ln cap="rnd" cmpd="sng" w="9525">
              <a:solidFill>
                <a:srgbClr val="BFBFBF"/>
              </a:solidFill>
              <a:prstDash val="dot"/>
              <a:round/>
              <a:headEnd len="sm" w="sm" type="none"/>
              <a:tailEnd len="sm" w="sm" type="none"/>
            </a:ln>
          </p:spPr>
        </p:cxnSp>
      </p:grpSp>
      <p:grpSp>
        <p:nvGrpSpPr>
          <p:cNvPr id="85" name="Google Shape;85;p2"/>
          <p:cNvGrpSpPr/>
          <p:nvPr/>
        </p:nvGrpSpPr>
        <p:grpSpPr>
          <a:xfrm>
            <a:off x="3813908" y="5389558"/>
            <a:ext cx="5107840" cy="586805"/>
            <a:chOff x="3813908" y="4756426"/>
            <a:chExt cx="5107840" cy="586805"/>
          </a:xfrm>
        </p:grpSpPr>
        <p:sp>
          <p:nvSpPr>
            <p:cNvPr id="86" name="Google Shape;86;p2"/>
            <p:cNvSpPr txBox="1"/>
            <p:nvPr/>
          </p:nvSpPr>
          <p:spPr>
            <a:xfrm>
              <a:off x="4284503" y="4756426"/>
              <a:ext cx="225692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
          <p:nvSpPr>
            <p:cNvPr id="87" name="Google Shape;87;p2"/>
            <p:cNvSpPr txBox="1"/>
            <p:nvPr/>
          </p:nvSpPr>
          <p:spPr>
            <a:xfrm>
              <a:off x="4284503" y="5088097"/>
              <a:ext cx="4637245" cy="255134"/>
            </a:xfrm>
            <a:prstGeom prst="rect">
              <a:avLst/>
            </a:prstGeom>
            <a:noFill/>
            <a:ln>
              <a:noFill/>
            </a:ln>
          </p:spPr>
          <p:txBody>
            <a:bodyPr anchorCtr="0" anchor="ctr" bIns="45700" lIns="91425" spcFirstLastPara="1" rIns="91425" wrap="square" tIns="45700">
              <a:spAutoFit/>
            </a:bodyPr>
            <a:lstStyle/>
            <a:p>
              <a:pPr indent="0" lvl="0" marL="0" marR="0" rtl="0" algn="l">
                <a:lnSpc>
                  <a:spcPct val="85714"/>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Links to data and Colab notebook</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3813908" y="4767531"/>
              <a:ext cx="508474" cy="4770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BFBFBF"/>
                  </a:solidFill>
                  <a:latin typeface="Calibri"/>
                  <a:ea typeface="Calibri"/>
                  <a:cs typeface="Calibri"/>
                  <a:sym typeface="Calibri"/>
                </a:rPr>
                <a:t>06</a:t>
              </a:r>
              <a:endParaRPr b="1" i="0" sz="2500" u="none" cap="none" strike="noStrike">
                <a:solidFill>
                  <a:srgbClr val="BFBFBF"/>
                </a:solidFill>
                <a:latin typeface="Calibri"/>
                <a:ea typeface="Calibri"/>
                <a:cs typeface="Calibri"/>
                <a:sym typeface="Calibri"/>
              </a:endParaRPr>
            </a:p>
          </p:txBody>
        </p:sp>
      </p:grpSp>
      <p:cxnSp>
        <p:nvCxnSpPr>
          <p:cNvPr id="89" name="Google Shape;89;p2"/>
          <p:cNvCxnSpPr/>
          <p:nvPr/>
        </p:nvCxnSpPr>
        <p:spPr>
          <a:xfrm>
            <a:off x="3976272" y="4646244"/>
            <a:ext cx="4724646" cy="0"/>
          </a:xfrm>
          <a:prstGeom prst="straightConnector1">
            <a:avLst/>
          </a:prstGeom>
          <a:noFill/>
          <a:ln cap="rnd" cmpd="sng" w="9525">
            <a:solidFill>
              <a:srgbClr val="BFBFBF"/>
            </a:solidFill>
            <a:prstDash val="dot"/>
            <a:round/>
            <a:headEnd len="sm" w="sm" type="none"/>
            <a:tailEnd len="sm" w="sm" type="none"/>
          </a:ln>
        </p:spPr>
      </p:cxnSp>
      <p:sp>
        <p:nvSpPr>
          <p:cNvPr id="90" name="Google Shape;90;p2"/>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C741"/>
        </a:solidFill>
      </p:bgPr>
    </p:bg>
    <p:spTree>
      <p:nvGrpSpPr>
        <p:cNvPr id="94" name="Shape 94"/>
        <p:cNvGrpSpPr/>
        <p:nvPr/>
      </p:nvGrpSpPr>
      <p:grpSpPr>
        <a:xfrm>
          <a:off x="0" y="0"/>
          <a:ext cx="0" cy="0"/>
          <a:chOff x="0" y="0"/>
          <a:chExt cx="0" cy="0"/>
        </a:xfrm>
      </p:grpSpPr>
      <p:grpSp>
        <p:nvGrpSpPr>
          <p:cNvPr id="95" name="Google Shape;95;p3"/>
          <p:cNvGrpSpPr/>
          <p:nvPr/>
        </p:nvGrpSpPr>
        <p:grpSpPr>
          <a:xfrm>
            <a:off x="2973293" y="2924944"/>
            <a:ext cx="3197414" cy="651555"/>
            <a:chOff x="3558983" y="4386776"/>
            <a:chExt cx="3197414" cy="651555"/>
          </a:xfrm>
        </p:grpSpPr>
        <p:sp>
          <p:nvSpPr>
            <p:cNvPr id="96" name="Google Shape;96;p3"/>
            <p:cNvSpPr txBox="1"/>
            <p:nvPr/>
          </p:nvSpPr>
          <p:spPr>
            <a:xfrm>
              <a:off x="3558983" y="4392000"/>
              <a:ext cx="65274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BFBFBF"/>
                  </a:solidFill>
                  <a:latin typeface="Calibri"/>
                  <a:ea typeface="Calibri"/>
                  <a:cs typeface="Calibri"/>
                  <a:sym typeface="Calibri"/>
                </a:rPr>
                <a:t>01</a:t>
              </a:r>
              <a:endParaRPr b="1" i="0" sz="3600" u="none" cap="none" strike="noStrike">
                <a:solidFill>
                  <a:srgbClr val="BFBFBF"/>
                </a:solidFill>
                <a:latin typeface="Calibri"/>
                <a:ea typeface="Calibri"/>
                <a:cs typeface="Calibri"/>
                <a:sym typeface="Calibri"/>
              </a:endParaRPr>
            </a:p>
          </p:txBody>
        </p:sp>
        <p:sp>
          <p:nvSpPr>
            <p:cNvPr id="97" name="Google Shape;97;p3"/>
            <p:cNvSpPr txBox="1"/>
            <p:nvPr/>
          </p:nvSpPr>
          <p:spPr>
            <a:xfrm>
              <a:off x="4139591" y="4386776"/>
              <a:ext cx="26168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grpSp>
      <p:sp>
        <p:nvSpPr>
          <p:cNvPr id="98" name="Google Shape;98;p3"/>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1" type="body"/>
          </p:nvPr>
        </p:nvSpPr>
        <p:spPr>
          <a:xfrm>
            <a:off x="370737" y="880145"/>
            <a:ext cx="8402525" cy="509771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3600"/>
              <a:buNone/>
            </a:pPr>
            <a:r>
              <a:rPr b="1" lang="en-US" sz="3600">
                <a:solidFill>
                  <a:schemeClr val="dk1"/>
                </a:solidFill>
                <a:latin typeface="Arial"/>
                <a:ea typeface="Arial"/>
                <a:cs typeface="Arial"/>
                <a:sym typeface="Arial"/>
              </a:rPr>
              <a:t>Introduction</a:t>
            </a:r>
            <a:endParaRPr b="1" i="0" sz="2000">
              <a:solidFill>
                <a:schemeClr val="dk1"/>
              </a:solidFill>
              <a:latin typeface="Arial"/>
              <a:ea typeface="Arial"/>
              <a:cs typeface="Arial"/>
              <a:sym typeface="Arial"/>
            </a:endParaRPr>
          </a:p>
          <a:p>
            <a:pPr indent="-114300" lvl="0" marL="0" rtl="0" algn="l">
              <a:lnSpc>
                <a:spcPct val="150000"/>
              </a:lnSpc>
              <a:spcBef>
                <a:spcPts val="0"/>
              </a:spcBef>
              <a:spcAft>
                <a:spcPts val="0"/>
              </a:spcAft>
              <a:buClr>
                <a:schemeClr val="dk1"/>
              </a:buClr>
              <a:buSzPts val="1800"/>
              <a:buFont typeface="Arial"/>
              <a:buChar char="•"/>
            </a:pPr>
            <a:r>
              <a:rPr i="0" lang="en-US" sz="1800">
                <a:solidFill>
                  <a:schemeClr val="dk1"/>
                </a:solidFill>
                <a:latin typeface="Arial"/>
                <a:ea typeface="Arial"/>
                <a:cs typeface="Arial"/>
                <a:sym typeface="Arial"/>
              </a:rPr>
              <a:t>Research conducted</a:t>
            </a:r>
            <a:endParaRPr/>
          </a:p>
          <a:p>
            <a:pPr indent="-114300" lvl="0" marL="0" marR="0" rtl="0" algn="l">
              <a:lnSpc>
                <a:spcPct val="150000"/>
              </a:lnSpc>
              <a:spcBef>
                <a:spcPts val="0"/>
              </a:spcBef>
              <a:spcAft>
                <a:spcPts val="0"/>
              </a:spcAft>
              <a:buClr>
                <a:schemeClr val="dk1"/>
              </a:buClr>
              <a:buSzPts val="1800"/>
              <a:buFont typeface="Arial"/>
              <a:buChar char="•"/>
            </a:pPr>
            <a:r>
              <a:rPr i="0" lang="en-US" sz="1800">
                <a:solidFill>
                  <a:schemeClr val="dk1"/>
                </a:solidFill>
                <a:latin typeface="Arial"/>
                <a:ea typeface="Arial"/>
                <a:cs typeface="Arial"/>
                <a:sym typeface="Arial"/>
              </a:rPr>
              <a:t>Data Source</a:t>
            </a:r>
            <a:endParaRPr/>
          </a:p>
          <a:p>
            <a:pPr indent="-228600" lvl="2" marL="800100" rtl="0" algn="l">
              <a:lnSpc>
                <a:spcPct val="150000"/>
              </a:lnSpc>
              <a:spcBef>
                <a:spcPts val="0"/>
              </a:spcBef>
              <a:spcAft>
                <a:spcPts val="0"/>
              </a:spcAft>
              <a:buClr>
                <a:schemeClr val="dk1"/>
              </a:buClr>
              <a:buSzPts val="1600"/>
              <a:buFont typeface="Arial"/>
              <a:buChar char="•"/>
            </a:pPr>
            <a:r>
              <a:rPr i="0" lang="en-US">
                <a:solidFill>
                  <a:schemeClr val="dk1"/>
                </a:solidFill>
                <a:latin typeface="Arial"/>
                <a:ea typeface="Arial"/>
                <a:cs typeface="Arial"/>
                <a:sym typeface="Arial"/>
              </a:rPr>
              <a:t>Data description</a:t>
            </a:r>
            <a:endParaRPr/>
          </a:p>
          <a:p>
            <a:pPr indent="-114300" lvl="0" marL="0" marR="0" rtl="0" algn="l">
              <a:lnSpc>
                <a:spcPct val="150000"/>
              </a:lnSpc>
              <a:spcBef>
                <a:spcPts val="0"/>
              </a:spcBef>
              <a:spcAft>
                <a:spcPts val="0"/>
              </a:spcAft>
              <a:buClr>
                <a:schemeClr val="dk1"/>
              </a:buClr>
              <a:buSzPts val="1800"/>
              <a:buFont typeface="Arial"/>
              <a:buChar char="•"/>
            </a:pPr>
            <a:r>
              <a:rPr i="0" lang="en-US" sz="1800">
                <a:solidFill>
                  <a:schemeClr val="dk1"/>
                </a:solidFill>
                <a:latin typeface="Arial"/>
                <a:ea typeface="Arial"/>
                <a:cs typeface="Arial"/>
                <a:sym typeface="Arial"/>
              </a:rPr>
              <a:t>Objective</a:t>
            </a:r>
            <a:endParaRPr/>
          </a:p>
          <a:p>
            <a:pPr indent="-114300" lvl="0" marL="0" marR="0" rtl="0" algn="l">
              <a:lnSpc>
                <a:spcPct val="150000"/>
              </a:lnSpc>
              <a:spcBef>
                <a:spcPts val="0"/>
              </a:spcBef>
              <a:spcAft>
                <a:spcPts val="0"/>
              </a:spcAft>
              <a:buClr>
                <a:schemeClr val="dk1"/>
              </a:buClr>
              <a:buSzPts val="1800"/>
              <a:buFont typeface="Arial"/>
              <a:buChar char="•"/>
            </a:pPr>
            <a:r>
              <a:rPr i="0" lang="en-US" sz="1800">
                <a:solidFill>
                  <a:schemeClr val="dk1"/>
                </a:solidFill>
                <a:latin typeface="Arial"/>
                <a:ea typeface="Arial"/>
                <a:cs typeface="Arial"/>
                <a:sym typeface="Arial"/>
              </a:rPr>
              <a:t>Analysis</a:t>
            </a:r>
            <a:endParaRPr/>
          </a:p>
          <a:p>
            <a:pPr indent="-228600" lvl="2" marL="800100" rtl="0" algn="l">
              <a:lnSpc>
                <a:spcPct val="100000"/>
              </a:lnSpc>
              <a:spcBef>
                <a:spcPts val="0"/>
              </a:spcBef>
              <a:spcAft>
                <a:spcPts val="0"/>
              </a:spcAft>
              <a:buClr>
                <a:schemeClr val="dk1"/>
              </a:buClr>
              <a:buSzPts val="1600"/>
              <a:buFont typeface="Arial"/>
              <a:buChar char="•"/>
            </a:pPr>
            <a:r>
              <a:rPr i="0" lang="en-US">
                <a:solidFill>
                  <a:schemeClr val="dk1"/>
                </a:solidFill>
                <a:latin typeface="Arial"/>
                <a:ea typeface="Arial"/>
                <a:cs typeface="Arial"/>
                <a:sym typeface="Arial"/>
              </a:rPr>
              <a:t>Software used for analysis</a:t>
            </a:r>
            <a:endParaRPr/>
          </a:p>
          <a:p>
            <a:pPr indent="-114300" lvl="0" marL="0" rtl="0" algn="l">
              <a:lnSpc>
                <a:spcPct val="150000"/>
              </a:lnSpc>
              <a:spcBef>
                <a:spcPts val="0"/>
              </a:spcBef>
              <a:spcAft>
                <a:spcPts val="0"/>
              </a:spcAft>
              <a:buClr>
                <a:schemeClr val="dk1"/>
              </a:buClr>
              <a:buSzPts val="1800"/>
              <a:buFont typeface="Arial"/>
              <a:buChar char="•"/>
            </a:pPr>
            <a:r>
              <a:rPr i="0" lang="en-US" sz="1800">
                <a:solidFill>
                  <a:schemeClr val="dk1"/>
                </a:solidFill>
                <a:latin typeface="Arial"/>
                <a:ea typeface="Arial"/>
                <a:cs typeface="Arial"/>
                <a:sym typeface="Arial"/>
              </a:rPr>
              <a:t>Hypothesis Tests</a:t>
            </a:r>
            <a:endParaRPr i="0" sz="1800">
              <a:solidFill>
                <a:schemeClr val="dk1"/>
              </a:solidFill>
              <a:latin typeface="Arial"/>
              <a:ea typeface="Arial"/>
              <a:cs typeface="Arial"/>
              <a:sym typeface="Arial"/>
            </a:endParaRPr>
          </a:p>
          <a:p>
            <a:pPr indent="-228600" lvl="2" marL="800100" rtl="0" algn="l">
              <a:lnSpc>
                <a:spcPct val="107000"/>
              </a:lnSpc>
              <a:spcBef>
                <a:spcPts val="0"/>
              </a:spcBef>
              <a:spcAft>
                <a:spcPts val="0"/>
              </a:spcAft>
              <a:buClr>
                <a:schemeClr val="dk1"/>
              </a:buClr>
              <a:buSzPts val="1600"/>
              <a:buFont typeface="Arial"/>
              <a:buChar char="•"/>
            </a:pPr>
            <a:r>
              <a:rPr i="0" lang="en-US">
                <a:solidFill>
                  <a:schemeClr val="dk1"/>
                </a:solidFill>
                <a:latin typeface="Arial"/>
                <a:ea typeface="Arial"/>
                <a:cs typeface="Arial"/>
                <a:sym typeface="Arial"/>
              </a:rPr>
              <a:t>Testing method</a:t>
            </a:r>
            <a:endParaRPr/>
          </a:p>
          <a:p>
            <a:pPr indent="-228600" lvl="2" marL="800100" rtl="0" algn="l">
              <a:lnSpc>
                <a:spcPct val="107000"/>
              </a:lnSpc>
              <a:spcBef>
                <a:spcPts val="0"/>
              </a:spcBef>
              <a:spcAft>
                <a:spcPts val="0"/>
              </a:spcAft>
              <a:buClr>
                <a:schemeClr val="dk1"/>
              </a:buClr>
              <a:buSzPts val="1600"/>
              <a:buFont typeface="Arial"/>
              <a:buChar char="•"/>
            </a:pPr>
            <a:r>
              <a:rPr i="0" lang="en-US">
                <a:solidFill>
                  <a:schemeClr val="dk1"/>
                </a:solidFill>
                <a:latin typeface="Arial"/>
                <a:ea typeface="Arial"/>
                <a:cs typeface="Arial"/>
                <a:sym typeface="Arial"/>
              </a:rPr>
              <a:t>Measurement</a:t>
            </a:r>
            <a:endParaRPr i="0" sz="1400">
              <a:solidFill>
                <a:schemeClr val="dk1"/>
              </a:solidFill>
              <a:latin typeface="Arial"/>
              <a:ea typeface="Arial"/>
              <a:cs typeface="Arial"/>
              <a:sym typeface="Arial"/>
            </a:endParaRPr>
          </a:p>
        </p:txBody>
      </p:sp>
      <p:sp>
        <p:nvSpPr>
          <p:cNvPr id="105" name="Google Shape;105;p4"/>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EC741"/>
        </a:solidFill>
      </p:bgPr>
    </p:bg>
    <p:spTree>
      <p:nvGrpSpPr>
        <p:cNvPr id="110" name="Shape 110"/>
        <p:cNvGrpSpPr/>
        <p:nvPr/>
      </p:nvGrpSpPr>
      <p:grpSpPr>
        <a:xfrm>
          <a:off x="0" y="0"/>
          <a:ext cx="0" cy="0"/>
          <a:chOff x="0" y="0"/>
          <a:chExt cx="0" cy="0"/>
        </a:xfrm>
      </p:grpSpPr>
      <p:grpSp>
        <p:nvGrpSpPr>
          <p:cNvPr id="111" name="Google Shape;111;p5"/>
          <p:cNvGrpSpPr/>
          <p:nvPr/>
        </p:nvGrpSpPr>
        <p:grpSpPr>
          <a:xfrm>
            <a:off x="2627784" y="2996952"/>
            <a:ext cx="4371079" cy="651555"/>
            <a:chOff x="3558982" y="4386776"/>
            <a:chExt cx="4371079" cy="651555"/>
          </a:xfrm>
        </p:grpSpPr>
        <p:sp>
          <p:nvSpPr>
            <p:cNvPr id="112" name="Google Shape;112;p5"/>
            <p:cNvSpPr txBox="1"/>
            <p:nvPr/>
          </p:nvSpPr>
          <p:spPr>
            <a:xfrm>
              <a:off x="3558982" y="4392000"/>
              <a:ext cx="65274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BFBFBF"/>
                  </a:solidFill>
                  <a:latin typeface="Calibri"/>
                  <a:ea typeface="Calibri"/>
                  <a:cs typeface="Calibri"/>
                  <a:sym typeface="Calibri"/>
                </a:rPr>
                <a:t>02</a:t>
              </a:r>
              <a:endParaRPr b="1" i="0" sz="3600" u="none" cap="none" strike="noStrike">
                <a:solidFill>
                  <a:srgbClr val="BFBFBF"/>
                </a:solidFill>
                <a:latin typeface="Calibri"/>
                <a:ea typeface="Calibri"/>
                <a:cs typeface="Calibri"/>
                <a:sym typeface="Calibri"/>
              </a:endParaRPr>
            </a:p>
          </p:txBody>
        </p:sp>
        <p:sp>
          <p:nvSpPr>
            <p:cNvPr id="113" name="Google Shape;113;p5"/>
            <p:cNvSpPr txBox="1"/>
            <p:nvPr/>
          </p:nvSpPr>
          <p:spPr>
            <a:xfrm>
              <a:off x="4139591" y="4386776"/>
              <a:ext cx="379047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libri"/>
                  <a:ea typeface="Calibri"/>
                  <a:cs typeface="Calibri"/>
                  <a:sym typeface="Calibri"/>
                </a:rPr>
                <a:t>Hypothesis Test 1</a:t>
              </a:r>
              <a:endParaRPr b="0" i="0" sz="1400" u="none" cap="none" strike="noStrike">
                <a:solidFill>
                  <a:srgbClr val="000000"/>
                </a:solidFill>
                <a:latin typeface="Arial"/>
                <a:ea typeface="Arial"/>
                <a:cs typeface="Arial"/>
                <a:sym typeface="Arial"/>
              </a:endParaRPr>
            </a:p>
          </p:txBody>
        </p:sp>
      </p:grpSp>
      <p:sp>
        <p:nvSpPr>
          <p:cNvPr id="114" name="Google Shape;114;p5"/>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idx="1" type="body"/>
          </p:nvPr>
        </p:nvSpPr>
        <p:spPr>
          <a:xfrm>
            <a:off x="370737" y="1700808"/>
            <a:ext cx="8402525" cy="432048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7F7F7F"/>
              </a:buClr>
              <a:buSzPts val="2400"/>
              <a:buNone/>
            </a:pPr>
            <a:r>
              <a:t/>
            </a:r>
            <a:endParaRPr b="1" sz="2400">
              <a:solidFill>
                <a:schemeClr val="dk1"/>
              </a:solidFill>
            </a:endParaRPr>
          </a:p>
          <a:p>
            <a:pPr indent="-342900" lvl="0" marL="342900" rtl="0" algn="l">
              <a:lnSpc>
                <a:spcPct val="100000"/>
              </a:lnSpc>
              <a:spcBef>
                <a:spcPts val="400"/>
              </a:spcBef>
              <a:spcAft>
                <a:spcPts val="0"/>
              </a:spcAft>
              <a:buClr>
                <a:schemeClr val="dk1"/>
              </a:buClr>
              <a:buSzPts val="2000"/>
              <a:buNone/>
            </a:pPr>
            <a:r>
              <a:rPr i="0" lang="en-US" sz="2000">
                <a:solidFill>
                  <a:schemeClr val="dk1"/>
                </a:solidFill>
                <a:latin typeface="Arial"/>
                <a:ea typeface="Arial"/>
                <a:cs typeface="Arial"/>
                <a:sym typeface="Arial"/>
              </a:rPr>
              <a:t>Male vs Female</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Objective</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Hypothesis Test</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Results</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Recommendation</a:t>
            </a:r>
            <a:endParaRPr i="0" sz="1800">
              <a:solidFill>
                <a:schemeClr val="dk1"/>
              </a:solidFill>
              <a:latin typeface="Arial"/>
              <a:ea typeface="Arial"/>
              <a:cs typeface="Arial"/>
              <a:sym typeface="Arial"/>
            </a:endParaRPr>
          </a:p>
        </p:txBody>
      </p:sp>
      <p:sp>
        <p:nvSpPr>
          <p:cNvPr id="121" name="Google Shape;121;p6"/>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Calibri"/>
              <a:buNone/>
            </a:pPr>
            <a:r>
              <a:rPr lang="en-US" sz="2800"/>
              <a:t>Hypothesis Tests</a:t>
            </a:r>
            <a:endParaRPr sz="2800"/>
          </a:p>
        </p:txBody>
      </p:sp>
      <p:pic>
        <p:nvPicPr>
          <p:cNvPr id="122" name="Google Shape;122;p6"/>
          <p:cNvPicPr preferRelativeResize="0"/>
          <p:nvPr/>
        </p:nvPicPr>
        <p:blipFill rotWithShape="1">
          <a:blip r:embed="rId3">
            <a:alphaModFix/>
          </a:blip>
          <a:srcRect b="0" l="0" r="0" t="0"/>
          <a:stretch/>
        </p:blipFill>
        <p:spPr>
          <a:xfrm>
            <a:off x="3851920" y="2453306"/>
            <a:ext cx="4314220" cy="2815484"/>
          </a:xfrm>
          <a:prstGeom prst="rect">
            <a:avLst/>
          </a:prstGeom>
          <a:noFill/>
          <a:ln>
            <a:noFill/>
          </a:ln>
        </p:spPr>
      </p:pic>
      <p:sp>
        <p:nvSpPr>
          <p:cNvPr id="123" name="Google Shape;123;p6"/>
          <p:cNvSpPr txBox="1"/>
          <p:nvPr/>
        </p:nvSpPr>
        <p:spPr>
          <a:xfrm>
            <a:off x="3131840" y="1083277"/>
            <a:ext cx="28803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Arial"/>
                <a:ea typeface="Arial"/>
                <a:cs typeface="Arial"/>
                <a:sym typeface="Arial"/>
              </a:rPr>
              <a:t>Hypothesis Test 1</a:t>
            </a:r>
            <a:endParaRPr b="0" i="0" sz="1800" u="none" cap="none" strike="noStrike">
              <a:solidFill>
                <a:schemeClr val="dk1"/>
              </a:solidFill>
              <a:latin typeface="Arial"/>
              <a:ea typeface="Arial"/>
              <a:cs typeface="Arial"/>
              <a:sym typeface="Arial"/>
            </a:endParaRPr>
          </a:p>
        </p:txBody>
      </p:sp>
      <p:sp>
        <p:nvSpPr>
          <p:cNvPr id="124" name="Google Shape;124;p6"/>
          <p:cNvSpPr txBox="1"/>
          <p:nvPr>
            <p:ph idx="12" type="sldNum"/>
          </p:nvPr>
        </p:nvSpPr>
        <p:spPr>
          <a:xfrm>
            <a:off x="6553200" y="6500834"/>
            <a:ext cx="2133600" cy="22064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idx="1" type="body"/>
          </p:nvPr>
        </p:nvSpPr>
        <p:spPr>
          <a:xfrm>
            <a:off x="395536" y="1196752"/>
            <a:ext cx="8402525" cy="516971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320"/>
              </a:spcBef>
              <a:spcAft>
                <a:spcPts val="0"/>
              </a:spcAft>
              <a:buClr>
                <a:srgbClr val="7F7F7F"/>
              </a:buClr>
              <a:buSzPts val="1600"/>
              <a:buNone/>
            </a:pPr>
            <a:r>
              <a:rPr b="1" lang="en-US">
                <a:solidFill>
                  <a:schemeClr val="dk1"/>
                </a:solidFill>
                <a:latin typeface="Arial"/>
                <a:ea typeface="Arial"/>
                <a:cs typeface="Arial"/>
                <a:sym typeface="Arial"/>
              </a:rPr>
              <a:t>Hypothesis Test 1: Male vs Female</a:t>
            </a:r>
            <a:endParaRPr/>
          </a:p>
          <a:p>
            <a:pPr indent="-342900" lvl="0" marL="342900" rtl="0" algn="l">
              <a:lnSpc>
                <a:spcPct val="100000"/>
              </a:lnSpc>
              <a:spcBef>
                <a:spcPts val="320"/>
              </a:spcBef>
              <a:spcAft>
                <a:spcPts val="0"/>
              </a:spcAft>
              <a:buClr>
                <a:srgbClr val="7F7F7F"/>
              </a:buClr>
              <a:buSzPts val="1600"/>
              <a:buNone/>
            </a:pPr>
            <a:r>
              <a:t/>
            </a:r>
            <a:endParaRPr>
              <a:solidFill>
                <a:schemeClr val="dk1"/>
              </a:solidFill>
            </a:endParaRPr>
          </a:p>
        </p:txBody>
      </p:sp>
      <p:sp>
        <p:nvSpPr>
          <p:cNvPr id="130" name="Google Shape;130;p16"/>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500"/>
              <a:buFont typeface="Calibri"/>
              <a:buNone/>
            </a:pPr>
            <a:r>
              <a:rPr lang="en-US"/>
              <a:t>Additional statistical results</a:t>
            </a:r>
            <a:endParaRPr/>
          </a:p>
        </p:txBody>
      </p:sp>
      <p:graphicFrame>
        <p:nvGraphicFramePr>
          <p:cNvPr id="131" name="Google Shape;131;p16"/>
          <p:cNvGraphicFramePr/>
          <p:nvPr/>
        </p:nvGraphicFramePr>
        <p:xfrm>
          <a:off x="508085" y="1671823"/>
          <a:ext cx="7181850" cy="4219575"/>
        </p:xfrm>
        <a:graphic>
          <a:graphicData uri="http://schemas.openxmlformats.org/presentationml/2006/ole">
            <mc:AlternateContent>
              <mc:Choice Requires="v">
                <p:oleObj r:id="rId4" imgH="4219575" imgW="7181850" progId="Excel.Sheet.12" spid="_x0000_s1">
                  <p:embed/>
                </p:oleObj>
              </mc:Choice>
              <mc:Fallback>
                <p:oleObj r:id="rId5" imgH="4219575" imgW="7181850" progId="Excel.Sheet.12">
                  <p:embed/>
                  <p:pic>
                    <p:nvPicPr>
                      <p:cNvPr id="131" name="Google Shape;131;p16"/>
                      <p:cNvPicPr preferRelativeResize="0"/>
                      <p:nvPr/>
                    </p:nvPicPr>
                    <p:blipFill rotWithShape="1">
                      <a:blip r:embed="rId6">
                        <a:alphaModFix/>
                      </a:blip>
                      <a:srcRect b="0" l="0" r="0" t="0"/>
                      <a:stretch/>
                    </p:blipFill>
                    <p:spPr>
                      <a:xfrm>
                        <a:off x="508085" y="1671823"/>
                        <a:ext cx="7181850" cy="4219575"/>
                      </a:xfrm>
                      <a:prstGeom prst="rect">
                        <a:avLst/>
                      </a:prstGeom>
                      <a:noFill/>
                      <a:ln>
                        <a:noFill/>
                      </a:ln>
                    </p:spPr>
                  </p:pic>
                </p:oleObj>
              </mc:Fallback>
            </mc:AlternateContent>
          </a:graphicData>
        </a:graphic>
      </p:graphicFrame>
      <p:sp>
        <p:nvSpPr>
          <p:cNvPr id="132" name="Google Shape;132;p16"/>
          <p:cNvSpPr txBox="1"/>
          <p:nvPr>
            <p:ph idx="12" type="sldNum"/>
          </p:nvPr>
        </p:nvSpPr>
        <p:spPr>
          <a:xfrm>
            <a:off x="6553200" y="6500834"/>
            <a:ext cx="2133600" cy="22064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7"/>
          <p:cNvGrpSpPr/>
          <p:nvPr/>
        </p:nvGrpSpPr>
        <p:grpSpPr>
          <a:xfrm>
            <a:off x="2555722" y="2946722"/>
            <a:ext cx="4824589" cy="651555"/>
            <a:chOff x="3677043" y="4386776"/>
            <a:chExt cx="3079354" cy="651555"/>
          </a:xfrm>
        </p:grpSpPr>
        <p:sp>
          <p:nvSpPr>
            <p:cNvPr id="139" name="Google Shape;139;p7"/>
            <p:cNvSpPr txBox="1"/>
            <p:nvPr/>
          </p:nvSpPr>
          <p:spPr>
            <a:xfrm>
              <a:off x="3677043" y="4392000"/>
              <a:ext cx="41662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BFBFBF"/>
                  </a:solidFill>
                  <a:latin typeface="Calibri"/>
                  <a:ea typeface="Calibri"/>
                  <a:cs typeface="Calibri"/>
                  <a:sym typeface="Calibri"/>
                </a:rPr>
                <a:t>03</a:t>
              </a:r>
              <a:endParaRPr b="1" i="0" sz="3600" u="none" cap="none" strike="noStrike">
                <a:solidFill>
                  <a:srgbClr val="BFBFBF"/>
                </a:solidFill>
                <a:latin typeface="Calibri"/>
                <a:ea typeface="Calibri"/>
                <a:cs typeface="Calibri"/>
                <a:sym typeface="Calibri"/>
              </a:endParaRPr>
            </a:p>
          </p:txBody>
        </p:sp>
        <p:sp>
          <p:nvSpPr>
            <p:cNvPr id="140" name="Google Shape;140;p7"/>
            <p:cNvSpPr txBox="1"/>
            <p:nvPr/>
          </p:nvSpPr>
          <p:spPr>
            <a:xfrm>
              <a:off x="4139591" y="4386776"/>
              <a:ext cx="26168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libri"/>
                  <a:ea typeface="Calibri"/>
                  <a:cs typeface="Calibri"/>
                  <a:sym typeface="Calibri"/>
                </a:rPr>
                <a:t>Hypothesis Test 2</a:t>
              </a:r>
              <a:endParaRPr b="0" i="0" sz="1400" u="none" cap="none" strike="noStrike">
                <a:solidFill>
                  <a:srgbClr val="000000"/>
                </a:solidFill>
                <a:latin typeface="Arial"/>
                <a:ea typeface="Arial"/>
                <a:cs typeface="Arial"/>
                <a:sym typeface="Arial"/>
              </a:endParaRPr>
            </a:p>
          </p:txBody>
        </p:sp>
      </p:grpSp>
      <p:sp>
        <p:nvSpPr>
          <p:cNvPr id="141" name="Google Shape;141;p7"/>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idx="1" type="body"/>
          </p:nvPr>
        </p:nvSpPr>
        <p:spPr>
          <a:xfrm>
            <a:off x="370737" y="1700808"/>
            <a:ext cx="8402525" cy="432048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7F7F7F"/>
              </a:buClr>
              <a:buSzPts val="2400"/>
              <a:buNone/>
            </a:pPr>
            <a:r>
              <a:t/>
            </a:r>
            <a:endParaRPr b="1" sz="2400">
              <a:solidFill>
                <a:schemeClr val="dk1"/>
              </a:solidFill>
            </a:endParaRPr>
          </a:p>
          <a:p>
            <a:pPr indent="-342900" lvl="0" marL="342900" rtl="0" algn="l">
              <a:lnSpc>
                <a:spcPct val="100000"/>
              </a:lnSpc>
              <a:spcBef>
                <a:spcPts val="400"/>
              </a:spcBef>
              <a:spcAft>
                <a:spcPts val="0"/>
              </a:spcAft>
              <a:buClr>
                <a:schemeClr val="dk1"/>
              </a:buClr>
              <a:buSzPts val="2000"/>
              <a:buNone/>
            </a:pPr>
            <a:r>
              <a:rPr i="0" lang="en-US" sz="2000">
                <a:solidFill>
                  <a:schemeClr val="dk1"/>
                </a:solidFill>
                <a:latin typeface="Arial"/>
                <a:ea typeface="Arial"/>
                <a:cs typeface="Arial"/>
                <a:sym typeface="Arial"/>
              </a:rPr>
              <a:t>Age Groups</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Objective</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Hypothesis Test</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Results</a:t>
            </a:r>
            <a:endParaRPr/>
          </a:p>
          <a:p>
            <a:pPr indent="-285750" lvl="1" marL="742950" rtl="0" algn="l">
              <a:lnSpc>
                <a:spcPct val="200000"/>
              </a:lnSpc>
              <a:spcBef>
                <a:spcPts val="320"/>
              </a:spcBef>
              <a:spcAft>
                <a:spcPts val="0"/>
              </a:spcAft>
              <a:buClr>
                <a:schemeClr val="dk1"/>
              </a:buClr>
              <a:buSzPts val="1600"/>
              <a:buFont typeface="Arial"/>
              <a:buChar char="•"/>
            </a:pPr>
            <a:r>
              <a:rPr i="0" lang="en-US">
                <a:solidFill>
                  <a:schemeClr val="dk1"/>
                </a:solidFill>
                <a:latin typeface="Arial"/>
                <a:ea typeface="Arial"/>
                <a:cs typeface="Arial"/>
                <a:sym typeface="Arial"/>
              </a:rPr>
              <a:t>Recommendation</a:t>
            </a:r>
            <a:endParaRPr i="0" sz="1800">
              <a:solidFill>
                <a:schemeClr val="dk1"/>
              </a:solidFill>
              <a:latin typeface="Arial"/>
              <a:ea typeface="Arial"/>
              <a:cs typeface="Arial"/>
              <a:sym typeface="Arial"/>
            </a:endParaRPr>
          </a:p>
        </p:txBody>
      </p:sp>
      <p:sp>
        <p:nvSpPr>
          <p:cNvPr id="148" name="Google Shape;148;p8"/>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Calibri"/>
              <a:buNone/>
            </a:pPr>
            <a:r>
              <a:rPr lang="en-US" sz="2800"/>
              <a:t>Hypothesis Tests</a:t>
            </a:r>
            <a:endParaRPr sz="2800"/>
          </a:p>
        </p:txBody>
      </p:sp>
      <p:sp>
        <p:nvSpPr>
          <p:cNvPr id="149" name="Google Shape;149;p8"/>
          <p:cNvSpPr txBox="1"/>
          <p:nvPr/>
        </p:nvSpPr>
        <p:spPr>
          <a:xfrm>
            <a:off x="3131840" y="1083277"/>
            <a:ext cx="28803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Arial"/>
                <a:ea typeface="Arial"/>
                <a:cs typeface="Arial"/>
                <a:sym typeface="Arial"/>
              </a:rPr>
              <a:t>Hypothesis Test 2</a:t>
            </a:r>
            <a:endParaRPr b="0" i="0" sz="1800" u="none" cap="none" strike="noStrike">
              <a:solidFill>
                <a:schemeClr val="dk1"/>
              </a:solidFill>
              <a:latin typeface="Arial"/>
              <a:ea typeface="Arial"/>
              <a:cs typeface="Arial"/>
              <a:sym typeface="Arial"/>
            </a:endParaRPr>
          </a:p>
        </p:txBody>
      </p:sp>
      <p:pic>
        <p:nvPicPr>
          <p:cNvPr id="150" name="Google Shape;150;p8"/>
          <p:cNvPicPr preferRelativeResize="0"/>
          <p:nvPr/>
        </p:nvPicPr>
        <p:blipFill rotWithShape="1">
          <a:blip r:embed="rId3">
            <a:alphaModFix/>
          </a:blip>
          <a:srcRect b="0" l="0" r="0" t="0"/>
          <a:stretch/>
        </p:blipFill>
        <p:spPr>
          <a:xfrm>
            <a:off x="3567196" y="1727417"/>
            <a:ext cx="5181268" cy="2261792"/>
          </a:xfrm>
          <a:prstGeom prst="rect">
            <a:avLst/>
          </a:prstGeom>
          <a:noFill/>
          <a:ln>
            <a:noFill/>
          </a:ln>
        </p:spPr>
      </p:pic>
      <p:sp>
        <p:nvSpPr>
          <p:cNvPr id="151" name="Google Shape;151;p8"/>
          <p:cNvSpPr txBox="1"/>
          <p:nvPr/>
        </p:nvSpPr>
        <p:spPr>
          <a:xfrm>
            <a:off x="5292080" y="3717032"/>
            <a:ext cx="2088232"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Thirties</a:t>
            </a:r>
            <a:endParaRPr b="0" i="0" sz="1400" u="none" cap="none" strike="noStrike">
              <a:solidFill>
                <a:srgbClr val="000000"/>
              </a:solidFill>
              <a:latin typeface="Arial"/>
              <a:ea typeface="Arial"/>
              <a:cs typeface="Arial"/>
              <a:sym typeface="Arial"/>
            </a:endParaRPr>
          </a:p>
        </p:txBody>
      </p:sp>
      <p:pic>
        <p:nvPicPr>
          <p:cNvPr id="152" name="Google Shape;152;p8"/>
          <p:cNvPicPr preferRelativeResize="0"/>
          <p:nvPr/>
        </p:nvPicPr>
        <p:blipFill rotWithShape="1">
          <a:blip r:embed="rId4">
            <a:alphaModFix/>
          </a:blip>
          <a:srcRect b="5727" l="0" r="779" t="4912"/>
          <a:stretch/>
        </p:blipFill>
        <p:spPr>
          <a:xfrm>
            <a:off x="3563888" y="4115276"/>
            <a:ext cx="5181268" cy="2061878"/>
          </a:xfrm>
          <a:prstGeom prst="rect">
            <a:avLst/>
          </a:prstGeom>
          <a:noFill/>
          <a:ln>
            <a:noFill/>
          </a:ln>
        </p:spPr>
      </p:pic>
      <p:sp>
        <p:nvSpPr>
          <p:cNvPr id="153" name="Google Shape;153;p8"/>
          <p:cNvSpPr txBox="1"/>
          <p:nvPr/>
        </p:nvSpPr>
        <p:spPr>
          <a:xfrm>
            <a:off x="5292080" y="6119718"/>
            <a:ext cx="2088232"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Forties</a:t>
            </a:r>
            <a:endParaRPr b="0" i="0" sz="1400" u="none" cap="none" strike="noStrike">
              <a:solidFill>
                <a:srgbClr val="000000"/>
              </a:solidFill>
              <a:latin typeface="Arial"/>
              <a:ea typeface="Arial"/>
              <a:cs typeface="Arial"/>
              <a:sym typeface="Arial"/>
            </a:endParaRPr>
          </a:p>
        </p:txBody>
      </p:sp>
      <p:sp>
        <p:nvSpPr>
          <p:cNvPr id="154" name="Google Shape;154;p8"/>
          <p:cNvSpPr txBox="1"/>
          <p:nvPr>
            <p:ph idx="12" type="sldNum"/>
          </p:nvPr>
        </p:nvSpPr>
        <p:spPr>
          <a:xfrm>
            <a:off x="6553200" y="6500834"/>
            <a:ext cx="2133600" cy="22064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idx="1" type="body"/>
          </p:nvPr>
        </p:nvSpPr>
        <p:spPr>
          <a:xfrm>
            <a:off x="395536" y="1196752"/>
            <a:ext cx="8402525" cy="516971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320"/>
              </a:spcBef>
              <a:spcAft>
                <a:spcPts val="0"/>
              </a:spcAft>
              <a:buClr>
                <a:srgbClr val="7F7F7F"/>
              </a:buClr>
              <a:buSzPts val="1600"/>
              <a:buNone/>
            </a:pPr>
            <a:r>
              <a:rPr b="1" lang="en-US">
                <a:solidFill>
                  <a:schemeClr val="dk1"/>
                </a:solidFill>
                <a:latin typeface="Arial"/>
                <a:ea typeface="Arial"/>
                <a:cs typeface="Arial"/>
                <a:sym typeface="Arial"/>
              </a:rPr>
              <a:t>Hypothesis Test 2: Ages 31-40 vs 41-50</a:t>
            </a:r>
            <a:endParaRPr/>
          </a:p>
          <a:p>
            <a:pPr indent="-342900" lvl="0" marL="342900" rtl="0" algn="l">
              <a:lnSpc>
                <a:spcPct val="100000"/>
              </a:lnSpc>
              <a:spcBef>
                <a:spcPts val="320"/>
              </a:spcBef>
              <a:spcAft>
                <a:spcPts val="0"/>
              </a:spcAft>
              <a:buClr>
                <a:srgbClr val="7F7F7F"/>
              </a:buClr>
              <a:buSzPts val="1600"/>
              <a:buNone/>
            </a:pPr>
            <a:r>
              <a:t/>
            </a:r>
            <a:endParaRPr>
              <a:solidFill>
                <a:schemeClr val="dk1"/>
              </a:solidFill>
            </a:endParaRPr>
          </a:p>
        </p:txBody>
      </p:sp>
      <p:sp>
        <p:nvSpPr>
          <p:cNvPr id="160" name="Google Shape;160;p24"/>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500"/>
              <a:buFont typeface="Calibri"/>
              <a:buNone/>
            </a:pPr>
            <a:r>
              <a:rPr lang="en-US"/>
              <a:t>Additional statistical results</a:t>
            </a:r>
            <a:endParaRPr/>
          </a:p>
        </p:txBody>
      </p:sp>
      <p:graphicFrame>
        <p:nvGraphicFramePr>
          <p:cNvPr id="161" name="Google Shape;161;p24"/>
          <p:cNvGraphicFramePr/>
          <p:nvPr/>
        </p:nvGraphicFramePr>
        <p:xfrm>
          <a:off x="508000" y="1671823"/>
          <a:ext cx="6705600" cy="4219575"/>
        </p:xfrm>
        <a:graphic>
          <a:graphicData uri="http://schemas.openxmlformats.org/presentationml/2006/ole">
            <mc:AlternateContent>
              <mc:Choice Requires="v">
                <p:oleObj r:id="rId4" imgH="4219575" imgW="6705600" progId="Excel.Sheet.12" spid="_x0000_s1">
                  <p:embed/>
                </p:oleObj>
              </mc:Choice>
              <mc:Fallback>
                <p:oleObj r:id="rId5" imgH="4219575" imgW="6705600" progId="Excel.Sheet.12">
                  <p:embed/>
                  <p:pic>
                    <p:nvPicPr>
                      <p:cNvPr id="161" name="Google Shape;161;p24"/>
                      <p:cNvPicPr preferRelativeResize="0"/>
                      <p:nvPr/>
                    </p:nvPicPr>
                    <p:blipFill rotWithShape="1">
                      <a:blip r:embed="rId6">
                        <a:alphaModFix/>
                      </a:blip>
                      <a:srcRect b="0" l="0" r="0" t="0"/>
                      <a:stretch/>
                    </p:blipFill>
                    <p:spPr>
                      <a:xfrm>
                        <a:off x="508000" y="1671823"/>
                        <a:ext cx="6705600" cy="4219575"/>
                      </a:xfrm>
                      <a:prstGeom prst="rect">
                        <a:avLst/>
                      </a:prstGeom>
                      <a:noFill/>
                      <a:ln>
                        <a:noFill/>
                      </a:ln>
                    </p:spPr>
                  </p:pic>
                </p:oleObj>
              </mc:Fallback>
            </mc:AlternateContent>
          </a:graphicData>
        </a:graphic>
      </p:graphicFrame>
      <p:sp>
        <p:nvSpPr>
          <p:cNvPr id="162" name="Google Shape;162;p24"/>
          <p:cNvSpPr txBox="1"/>
          <p:nvPr>
            <p:ph idx="12" type="sldNum"/>
          </p:nvPr>
        </p:nvSpPr>
        <p:spPr>
          <a:xfrm>
            <a:off x="6553200" y="6500834"/>
            <a:ext cx="2133600" cy="22064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grpSp>
        <p:nvGrpSpPr>
          <p:cNvPr id="168" name="Google Shape;168;p9"/>
          <p:cNvGrpSpPr/>
          <p:nvPr/>
        </p:nvGrpSpPr>
        <p:grpSpPr>
          <a:xfrm>
            <a:off x="2483768" y="2956952"/>
            <a:ext cx="5017519" cy="944095"/>
            <a:chOff x="3685001" y="4357007"/>
            <a:chExt cx="3080152" cy="1200329"/>
          </a:xfrm>
        </p:grpSpPr>
        <p:sp>
          <p:nvSpPr>
            <p:cNvPr id="169" name="Google Shape;169;p9"/>
            <p:cNvSpPr txBox="1"/>
            <p:nvPr/>
          </p:nvSpPr>
          <p:spPr>
            <a:xfrm>
              <a:off x="3685001" y="4392000"/>
              <a:ext cx="400706"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BFBFBF"/>
                  </a:solidFill>
                  <a:latin typeface="Calibri"/>
                  <a:ea typeface="Calibri"/>
                  <a:cs typeface="Calibri"/>
                  <a:sym typeface="Calibri"/>
                </a:rPr>
                <a:t>04</a:t>
              </a:r>
              <a:endParaRPr b="1" i="0" sz="3600" u="none" cap="none" strike="noStrike">
                <a:solidFill>
                  <a:srgbClr val="BFBFBF"/>
                </a:solidFill>
                <a:latin typeface="Calibri"/>
                <a:ea typeface="Calibri"/>
                <a:cs typeface="Calibri"/>
                <a:sym typeface="Calibri"/>
              </a:endParaRPr>
            </a:p>
          </p:txBody>
        </p:sp>
        <p:sp>
          <p:nvSpPr>
            <p:cNvPr id="170" name="Google Shape;170;p9"/>
            <p:cNvSpPr txBox="1"/>
            <p:nvPr/>
          </p:nvSpPr>
          <p:spPr>
            <a:xfrm>
              <a:off x="4148347" y="4357007"/>
              <a:ext cx="261680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chemeClr val="dk1"/>
                  </a:solidFill>
                  <a:latin typeface="Calibri"/>
                  <a:ea typeface="Calibri"/>
                  <a:cs typeface="Calibri"/>
                  <a:sym typeface="Calibri"/>
                </a:rPr>
                <a:t>Recommendations</a:t>
              </a:r>
              <a:endParaRPr b="0" i="0" sz="1400" u="none" cap="none" strike="noStrike">
                <a:solidFill>
                  <a:srgbClr val="000000"/>
                </a:solidFill>
                <a:latin typeface="Arial"/>
                <a:ea typeface="Arial"/>
                <a:cs typeface="Arial"/>
                <a:sym typeface="Arial"/>
              </a:endParaRPr>
            </a:p>
          </p:txBody>
        </p:sp>
      </p:grpSp>
      <p:sp>
        <p:nvSpPr>
          <p:cNvPr id="171" name="Google Shape;171;p9"/>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idx="4294967295" type="body"/>
          </p:nvPr>
        </p:nvSpPr>
        <p:spPr>
          <a:xfrm>
            <a:off x="3563888" y="1196975"/>
            <a:ext cx="5580112" cy="51689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b="1" i="0" lang="en-US" sz="2400">
                <a:solidFill>
                  <a:schemeClr val="dk1"/>
                </a:solidFill>
                <a:latin typeface="Arial"/>
                <a:ea typeface="Arial"/>
                <a:cs typeface="Arial"/>
                <a:sym typeface="Arial"/>
              </a:rPr>
              <a:t>Hypothesis Test 1: </a:t>
            </a:r>
            <a:endParaRPr/>
          </a:p>
          <a:p>
            <a:pPr indent="-342900" lvl="0" marL="342900" rtl="0" algn="l">
              <a:lnSpc>
                <a:spcPct val="150000"/>
              </a:lnSpc>
              <a:spcBef>
                <a:spcPts val="400"/>
              </a:spcBef>
              <a:spcAft>
                <a:spcPts val="0"/>
              </a:spcAft>
              <a:buClr>
                <a:schemeClr val="dk1"/>
              </a:buClr>
              <a:buSzPts val="2000"/>
              <a:buFont typeface="Arial"/>
              <a:buChar char="•"/>
            </a:pPr>
            <a:r>
              <a:rPr i="0" lang="en-US" sz="2000">
                <a:solidFill>
                  <a:schemeClr val="dk1"/>
                </a:solidFill>
                <a:latin typeface="Arial"/>
                <a:ea typeface="Arial"/>
                <a:cs typeface="Arial"/>
                <a:sym typeface="Arial"/>
              </a:rPr>
              <a:t>Female vs Male Spending</a:t>
            </a:r>
            <a:endParaRPr/>
          </a:p>
          <a:p>
            <a:pPr indent="0" lvl="0" marL="0" rtl="0" algn="l">
              <a:lnSpc>
                <a:spcPct val="150000"/>
              </a:lnSpc>
              <a:spcBef>
                <a:spcPts val="480"/>
              </a:spcBef>
              <a:spcAft>
                <a:spcPts val="0"/>
              </a:spcAft>
              <a:buClr>
                <a:schemeClr val="dk1"/>
              </a:buClr>
              <a:buSzPts val="2400"/>
              <a:buNone/>
            </a:pPr>
            <a:r>
              <a:t/>
            </a:r>
            <a:endParaRPr b="1" i="0" sz="2400">
              <a:solidFill>
                <a:schemeClr val="dk1"/>
              </a:solidFill>
              <a:latin typeface="Arial"/>
              <a:ea typeface="Arial"/>
              <a:cs typeface="Arial"/>
              <a:sym typeface="Arial"/>
            </a:endParaRPr>
          </a:p>
          <a:p>
            <a:pPr indent="0" lvl="0" marL="0" rtl="0" algn="l">
              <a:lnSpc>
                <a:spcPct val="150000"/>
              </a:lnSpc>
              <a:spcBef>
                <a:spcPts val="480"/>
              </a:spcBef>
              <a:spcAft>
                <a:spcPts val="0"/>
              </a:spcAft>
              <a:buClr>
                <a:schemeClr val="dk1"/>
              </a:buClr>
              <a:buSzPts val="2400"/>
              <a:buNone/>
            </a:pPr>
            <a:r>
              <a:rPr b="1" i="0" lang="en-US" sz="2400">
                <a:solidFill>
                  <a:schemeClr val="dk1"/>
                </a:solidFill>
                <a:latin typeface="Arial"/>
                <a:ea typeface="Arial"/>
                <a:cs typeface="Arial"/>
                <a:sym typeface="Arial"/>
              </a:rPr>
              <a:t>Hypothesis Test 2: </a:t>
            </a:r>
            <a:endParaRPr/>
          </a:p>
          <a:p>
            <a:pPr indent="-342900" lvl="0" marL="342900" rtl="0" algn="l">
              <a:lnSpc>
                <a:spcPct val="150000"/>
              </a:lnSpc>
              <a:spcBef>
                <a:spcPts val="400"/>
              </a:spcBef>
              <a:spcAft>
                <a:spcPts val="0"/>
              </a:spcAft>
              <a:buClr>
                <a:schemeClr val="dk1"/>
              </a:buClr>
              <a:buSzPts val="2000"/>
              <a:buChar char="•"/>
            </a:pPr>
            <a:r>
              <a:rPr i="0" lang="en-US" sz="2000">
                <a:solidFill>
                  <a:schemeClr val="dk1"/>
                </a:solidFill>
                <a:latin typeface="Arial"/>
                <a:ea typeface="Arial"/>
                <a:cs typeface="Arial"/>
                <a:sym typeface="Arial"/>
              </a:rPr>
              <a:t>Ages 31-40 vs 41-50</a:t>
            </a:r>
            <a:endParaRPr i="0" sz="2400">
              <a:solidFill>
                <a:schemeClr val="dk1"/>
              </a:solidFill>
              <a:latin typeface="Arial"/>
              <a:ea typeface="Arial"/>
              <a:cs typeface="Arial"/>
              <a:sym typeface="Arial"/>
            </a:endParaRPr>
          </a:p>
        </p:txBody>
      </p:sp>
      <p:sp>
        <p:nvSpPr>
          <p:cNvPr id="178" name="Google Shape;178;p10"/>
          <p:cNvSpPr txBox="1"/>
          <p:nvPr>
            <p:ph idx="4294967295" type="title"/>
          </p:nvPr>
        </p:nvSpPr>
        <p:spPr>
          <a:xfrm>
            <a:off x="26221" y="1412776"/>
            <a:ext cx="3275856" cy="79692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DD9C3"/>
              </a:buClr>
              <a:buSzPts val="2800"/>
              <a:buFont typeface="Malgun Gothic"/>
              <a:buNone/>
            </a:pPr>
            <a:r>
              <a:rPr lang="en-US" sz="2800">
                <a:solidFill>
                  <a:srgbClr val="DDD9C3"/>
                </a:solidFill>
              </a:rPr>
              <a:t>Recommendations</a:t>
            </a:r>
            <a:endParaRPr sz="2800">
              <a:solidFill>
                <a:srgbClr val="DDD9C3"/>
              </a:solidFill>
            </a:endParaRPr>
          </a:p>
        </p:txBody>
      </p:sp>
      <p:sp>
        <p:nvSpPr>
          <p:cNvPr id="179" name="Google Shape;179;p10"/>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11"/>
          <p:cNvGrpSpPr/>
          <p:nvPr/>
        </p:nvGrpSpPr>
        <p:grpSpPr>
          <a:xfrm>
            <a:off x="2483768" y="2968112"/>
            <a:ext cx="4910806" cy="662694"/>
            <a:chOff x="3685001" y="4371196"/>
            <a:chExt cx="3014644" cy="842554"/>
          </a:xfrm>
        </p:grpSpPr>
        <p:sp>
          <p:nvSpPr>
            <p:cNvPr id="186" name="Google Shape;186;p11"/>
            <p:cNvSpPr txBox="1"/>
            <p:nvPr/>
          </p:nvSpPr>
          <p:spPr>
            <a:xfrm>
              <a:off x="3685001" y="4392000"/>
              <a:ext cx="400706" cy="8217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BFBFBF"/>
                  </a:solidFill>
                  <a:latin typeface="Calibri"/>
                  <a:ea typeface="Calibri"/>
                  <a:cs typeface="Calibri"/>
                  <a:sym typeface="Calibri"/>
                </a:rPr>
                <a:t>05</a:t>
              </a:r>
              <a:endParaRPr b="1" i="0" sz="3600" u="none" cap="none" strike="noStrike">
                <a:solidFill>
                  <a:srgbClr val="BFBFBF"/>
                </a:solidFill>
                <a:latin typeface="Calibri"/>
                <a:ea typeface="Calibri"/>
                <a:cs typeface="Calibri"/>
                <a:sym typeface="Calibri"/>
              </a:endParaRPr>
            </a:p>
          </p:txBody>
        </p:sp>
        <p:sp>
          <p:nvSpPr>
            <p:cNvPr id="187" name="Google Shape;187;p11"/>
            <p:cNvSpPr txBox="1"/>
            <p:nvPr/>
          </p:nvSpPr>
          <p:spPr>
            <a:xfrm>
              <a:off x="4082839" y="4371196"/>
              <a:ext cx="2616806" cy="8217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3D3323"/>
                  </a:solidFill>
                  <a:latin typeface="Calibri"/>
                  <a:ea typeface="Calibri"/>
                  <a:cs typeface="Calibri"/>
                  <a:sym typeface="Calibri"/>
                </a:rPr>
                <a:t>Next Steps, Q&amp;A</a:t>
              </a:r>
              <a:endParaRPr b="0" i="0" sz="1400" u="none" cap="none" strike="noStrike">
                <a:solidFill>
                  <a:srgbClr val="000000"/>
                </a:solidFill>
                <a:latin typeface="Arial"/>
                <a:ea typeface="Arial"/>
                <a:cs typeface="Arial"/>
                <a:sym typeface="Arial"/>
              </a:endParaRPr>
            </a:p>
          </p:txBody>
        </p:sp>
      </p:grpSp>
      <p:sp>
        <p:nvSpPr>
          <p:cNvPr id="188" name="Google Shape;188;p11"/>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txBox="1"/>
          <p:nvPr>
            <p:ph idx="4294967295" type="body"/>
          </p:nvPr>
        </p:nvSpPr>
        <p:spPr>
          <a:xfrm>
            <a:off x="3563888" y="1196975"/>
            <a:ext cx="5580112" cy="51689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3D3323"/>
              </a:buClr>
              <a:buSzPts val="2500"/>
              <a:buChar char="•"/>
            </a:pPr>
            <a:r>
              <a:rPr lang="en-US">
                <a:solidFill>
                  <a:srgbClr val="3D3323"/>
                </a:solidFill>
              </a:rPr>
              <a:t>New Data</a:t>
            </a:r>
            <a:endParaRPr/>
          </a:p>
          <a:p>
            <a:pPr indent="-184150" lvl="0" marL="342900" rtl="0" algn="l">
              <a:lnSpc>
                <a:spcPct val="100000"/>
              </a:lnSpc>
              <a:spcBef>
                <a:spcPts val="500"/>
              </a:spcBef>
              <a:spcAft>
                <a:spcPts val="0"/>
              </a:spcAft>
              <a:buClr>
                <a:schemeClr val="dk1"/>
              </a:buClr>
              <a:buSzPts val="2500"/>
              <a:buNone/>
            </a:pPr>
            <a:r>
              <a:t/>
            </a:r>
            <a:endParaRPr>
              <a:solidFill>
                <a:srgbClr val="3D3323"/>
              </a:solidFill>
            </a:endParaRPr>
          </a:p>
          <a:p>
            <a:pPr indent="-342900" lvl="0" marL="342900" rtl="0" algn="l">
              <a:lnSpc>
                <a:spcPct val="100000"/>
              </a:lnSpc>
              <a:spcBef>
                <a:spcPts val="500"/>
              </a:spcBef>
              <a:spcAft>
                <a:spcPts val="0"/>
              </a:spcAft>
              <a:buClr>
                <a:srgbClr val="3D3323"/>
              </a:buClr>
              <a:buSzPts val="2500"/>
              <a:buChar char="•"/>
            </a:pPr>
            <a:r>
              <a:rPr lang="en-US">
                <a:solidFill>
                  <a:srgbClr val="3D3323"/>
                </a:solidFill>
              </a:rPr>
              <a:t>Mall Stores</a:t>
            </a:r>
            <a:endParaRPr/>
          </a:p>
          <a:p>
            <a:pPr indent="-184150" lvl="0" marL="342900" rtl="0" algn="l">
              <a:lnSpc>
                <a:spcPct val="100000"/>
              </a:lnSpc>
              <a:spcBef>
                <a:spcPts val="500"/>
              </a:spcBef>
              <a:spcAft>
                <a:spcPts val="0"/>
              </a:spcAft>
              <a:buClr>
                <a:schemeClr val="dk1"/>
              </a:buClr>
              <a:buSzPts val="2500"/>
              <a:buNone/>
            </a:pPr>
            <a:r>
              <a:t/>
            </a:r>
            <a:endParaRPr>
              <a:solidFill>
                <a:srgbClr val="3D3323"/>
              </a:solidFill>
            </a:endParaRPr>
          </a:p>
          <a:p>
            <a:pPr indent="-342900" lvl="0" marL="342900" rtl="0" algn="l">
              <a:lnSpc>
                <a:spcPct val="100000"/>
              </a:lnSpc>
              <a:spcBef>
                <a:spcPts val="500"/>
              </a:spcBef>
              <a:spcAft>
                <a:spcPts val="0"/>
              </a:spcAft>
              <a:buClr>
                <a:srgbClr val="3D3323"/>
              </a:buClr>
              <a:buSzPts val="2500"/>
              <a:buChar char="•"/>
            </a:pPr>
            <a:r>
              <a:rPr lang="en-US">
                <a:solidFill>
                  <a:srgbClr val="3D3323"/>
                </a:solidFill>
              </a:rPr>
              <a:t>Promotions</a:t>
            </a:r>
            <a:endParaRPr>
              <a:solidFill>
                <a:srgbClr val="3D3323"/>
              </a:solidFill>
            </a:endParaRPr>
          </a:p>
        </p:txBody>
      </p:sp>
      <p:sp>
        <p:nvSpPr>
          <p:cNvPr id="195" name="Google Shape;195;p12"/>
          <p:cNvSpPr txBox="1"/>
          <p:nvPr>
            <p:ph idx="4294967295" type="title"/>
          </p:nvPr>
        </p:nvSpPr>
        <p:spPr>
          <a:xfrm>
            <a:off x="539552" y="1412776"/>
            <a:ext cx="2339752" cy="796926"/>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C4BD97"/>
              </a:buClr>
              <a:buSzPts val="2800"/>
              <a:buFont typeface="Malgun Gothic"/>
              <a:buNone/>
            </a:pPr>
            <a:r>
              <a:rPr lang="en-US" sz="2800">
                <a:solidFill>
                  <a:srgbClr val="C4BD97"/>
                </a:solidFill>
              </a:rPr>
              <a:t>Next Steps</a:t>
            </a:r>
            <a:endParaRPr sz="2800">
              <a:solidFill>
                <a:srgbClr val="C4BD97"/>
              </a:solidFill>
            </a:endParaRPr>
          </a:p>
        </p:txBody>
      </p:sp>
      <p:sp>
        <p:nvSpPr>
          <p:cNvPr id="196" name="Google Shape;196;p12"/>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3"/>
          <p:cNvSpPr txBox="1"/>
          <p:nvPr>
            <p:ph idx="4294967295" type="body"/>
          </p:nvPr>
        </p:nvSpPr>
        <p:spPr>
          <a:xfrm>
            <a:off x="3491880" y="4293096"/>
            <a:ext cx="1872183" cy="86409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3D3323"/>
              </a:buClr>
              <a:buSzPts val="4800"/>
              <a:buNone/>
            </a:pPr>
            <a:r>
              <a:rPr lang="en-US" sz="4800">
                <a:solidFill>
                  <a:srgbClr val="3D3323"/>
                </a:solidFill>
                <a:latin typeface="Arial"/>
                <a:ea typeface="Arial"/>
                <a:cs typeface="Arial"/>
                <a:sym typeface="Arial"/>
              </a:rPr>
              <a:t>Q &amp; A</a:t>
            </a:r>
            <a:endParaRPr sz="4800">
              <a:solidFill>
                <a:srgbClr val="3D3323"/>
              </a:solidFill>
              <a:latin typeface="Arial"/>
              <a:ea typeface="Arial"/>
              <a:cs typeface="Arial"/>
              <a:sym typeface="Arial"/>
            </a:endParaRPr>
          </a:p>
        </p:txBody>
      </p:sp>
      <p:sp>
        <p:nvSpPr>
          <p:cNvPr id="203" name="Google Shape;203;p13"/>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ctrTitle"/>
          </p:nvPr>
        </p:nvSpPr>
        <p:spPr>
          <a:xfrm>
            <a:off x="302211" y="2845093"/>
            <a:ext cx="8539579" cy="1303987"/>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hlink"/>
              </a:buClr>
              <a:buSzPts val="7000"/>
              <a:buFont typeface="Gulimche"/>
              <a:buNone/>
            </a:pPr>
            <a:r>
              <a:rPr lang="en-US"/>
              <a:t>THANK YOU</a:t>
            </a:r>
            <a:endParaRPr/>
          </a:p>
        </p:txBody>
      </p:sp>
      <p:sp>
        <p:nvSpPr>
          <p:cNvPr id="209" name="Google Shape;209;p14"/>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5"/>
          <p:cNvSpPr txBox="1"/>
          <p:nvPr>
            <p:ph type="ctrTitle"/>
          </p:nvPr>
        </p:nvSpPr>
        <p:spPr>
          <a:xfrm>
            <a:off x="302211" y="2845093"/>
            <a:ext cx="8539579" cy="1303987"/>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hlink"/>
              </a:buClr>
              <a:buSzPts val="7000"/>
              <a:buFont typeface="Gulimche"/>
              <a:buNone/>
            </a:pPr>
            <a:r>
              <a:rPr lang="en-US"/>
              <a:t>Appendix</a:t>
            </a:r>
            <a:endParaRPr/>
          </a:p>
        </p:txBody>
      </p:sp>
      <p:sp>
        <p:nvSpPr>
          <p:cNvPr id="215" name="Google Shape;215;p15"/>
          <p:cNvSpPr txBox="1"/>
          <p:nvPr>
            <p:ph idx="12" type="sldNum"/>
          </p:nvPr>
        </p:nvSpPr>
        <p:spPr>
          <a:xfrm>
            <a:off x="6553200" y="6429396"/>
            <a:ext cx="2133600" cy="292079"/>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solidFill>
                  <a:srgbClr val="DDD9C3"/>
                </a:solidFill>
              </a:rPr>
              <a:t>‹#›</a:t>
            </a:fld>
            <a:endParaRPr>
              <a:solidFill>
                <a:srgbClr val="DDD9C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idx="1" type="body"/>
          </p:nvPr>
        </p:nvSpPr>
        <p:spPr>
          <a:xfrm>
            <a:off x="395536" y="1196752"/>
            <a:ext cx="8402525" cy="516971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None/>
            </a:pPr>
            <a:r>
              <a:rPr b="1" i="0" lang="en-US" sz="1800">
                <a:solidFill>
                  <a:schemeClr val="dk1"/>
                </a:solidFill>
                <a:latin typeface="Arial"/>
                <a:ea typeface="Arial"/>
                <a:cs typeface="Arial"/>
                <a:sym typeface="Arial"/>
              </a:rPr>
              <a:t>Link to the website where the file was downloaded: </a:t>
            </a:r>
            <a:endParaRPr/>
          </a:p>
          <a:p>
            <a:pPr indent="-342900" lvl="0" marL="342900" rtl="0" algn="l">
              <a:lnSpc>
                <a:spcPct val="100000"/>
              </a:lnSpc>
              <a:spcBef>
                <a:spcPts val="320"/>
              </a:spcBef>
              <a:spcAft>
                <a:spcPts val="0"/>
              </a:spcAft>
              <a:buClr>
                <a:schemeClr val="dk1"/>
              </a:buClr>
              <a:buSzPts val="1600"/>
              <a:buNone/>
            </a:pPr>
            <a:r>
              <a:rPr lang="en-US">
                <a:solidFill>
                  <a:schemeClr val="dk1"/>
                </a:solidFill>
              </a:rPr>
              <a:t>	</a:t>
            </a:r>
            <a:r>
              <a:rPr i="0" lang="en-US" u="sng">
                <a:solidFill>
                  <a:srgbClr val="0070C0"/>
                </a:solidFill>
                <a:latin typeface="Arial"/>
                <a:ea typeface="Arial"/>
                <a:cs typeface="Arial"/>
                <a:sym typeface="Arial"/>
                <a:hlinkClick r:id="rId3">
                  <a:extLst>
                    <a:ext uri="{A12FA001-AC4F-418D-AE19-62706E023703}">
                      <ahyp:hlinkClr val="tx"/>
                    </a:ext>
                  </a:extLst>
                </a:hlinkClick>
              </a:rPr>
              <a:t>https://www.kaggle.com/kandij/mall-customers</a:t>
            </a:r>
            <a:endParaRPr i="0">
              <a:solidFill>
                <a:srgbClr val="0070C0"/>
              </a:solidFill>
              <a:latin typeface="Arial"/>
              <a:ea typeface="Arial"/>
              <a:cs typeface="Arial"/>
              <a:sym typeface="Arial"/>
            </a:endParaRPr>
          </a:p>
          <a:p>
            <a:pPr indent="-342900" lvl="0" marL="342900" rtl="0" algn="l">
              <a:lnSpc>
                <a:spcPct val="100000"/>
              </a:lnSpc>
              <a:spcBef>
                <a:spcPts val="320"/>
              </a:spcBef>
              <a:spcAft>
                <a:spcPts val="0"/>
              </a:spcAft>
              <a:buClr>
                <a:srgbClr val="7F7F7F"/>
              </a:buClr>
              <a:buSzPts val="1600"/>
              <a:buNone/>
            </a:pPr>
            <a:r>
              <a:t/>
            </a:r>
            <a:endParaRPr>
              <a:solidFill>
                <a:srgbClr val="0070C0"/>
              </a:solidFill>
            </a:endParaRPr>
          </a:p>
          <a:p>
            <a:pPr indent="-342900" lvl="0" marL="342900" rtl="0" algn="l">
              <a:lnSpc>
                <a:spcPct val="100000"/>
              </a:lnSpc>
              <a:spcBef>
                <a:spcPts val="360"/>
              </a:spcBef>
              <a:spcAft>
                <a:spcPts val="0"/>
              </a:spcAft>
              <a:buClr>
                <a:schemeClr val="dk1"/>
              </a:buClr>
              <a:buSzPts val="1800"/>
              <a:buNone/>
            </a:pPr>
            <a:r>
              <a:rPr b="1" i="0" lang="en-US" sz="1800">
                <a:solidFill>
                  <a:schemeClr val="dk1"/>
                </a:solidFill>
                <a:latin typeface="Arial"/>
                <a:ea typeface="Arial"/>
                <a:cs typeface="Arial"/>
                <a:sym typeface="Arial"/>
              </a:rPr>
              <a:t>Link to the Excel file:</a:t>
            </a:r>
            <a:endParaRPr/>
          </a:p>
          <a:p>
            <a:pPr indent="-342900" lvl="0" marL="342900" rtl="0" algn="l">
              <a:lnSpc>
                <a:spcPct val="100000"/>
              </a:lnSpc>
              <a:spcBef>
                <a:spcPts val="320"/>
              </a:spcBef>
              <a:spcAft>
                <a:spcPts val="0"/>
              </a:spcAft>
              <a:buClr>
                <a:schemeClr val="dk1"/>
              </a:buClr>
              <a:buSzPts val="1600"/>
              <a:buNone/>
            </a:pPr>
            <a:r>
              <a:rPr lang="en-US">
                <a:solidFill>
                  <a:schemeClr val="dk1"/>
                </a:solidFill>
              </a:rPr>
              <a:t>	</a:t>
            </a:r>
            <a:r>
              <a:rPr i="0" lang="en-US" u="sng">
                <a:solidFill>
                  <a:schemeClr val="dk1"/>
                </a:solidFill>
                <a:latin typeface="Arial"/>
                <a:ea typeface="Arial"/>
                <a:cs typeface="Arial"/>
                <a:sym typeface="Arial"/>
                <a:hlinkClick r:id="rId4">
                  <a:extLst>
                    <a:ext uri="{A12FA001-AC4F-418D-AE19-62706E023703}">
                      <ahyp:hlinkClr val="tx"/>
                    </a:ext>
                  </a:extLst>
                </a:hlinkClick>
              </a:rPr>
              <a:t>https://docs.google.com/spreadsheets/d/1N6WYChsGVTl0dYDfXCGSGrzNKwXu78BA/edit?usp=sharing&amp;ouid=107830551552802508870&amp;rtpof=true&amp;sd=true</a:t>
            </a:r>
            <a:endParaRPr i="0">
              <a:solidFill>
                <a:schemeClr val="dk1"/>
              </a:solidFill>
              <a:latin typeface="Arial"/>
              <a:ea typeface="Arial"/>
              <a:cs typeface="Arial"/>
              <a:sym typeface="Arial"/>
            </a:endParaRPr>
          </a:p>
          <a:p>
            <a:pPr indent="-342900" lvl="0" marL="342900" rtl="0" algn="l">
              <a:lnSpc>
                <a:spcPct val="100000"/>
              </a:lnSpc>
              <a:spcBef>
                <a:spcPts val="320"/>
              </a:spcBef>
              <a:spcAft>
                <a:spcPts val="0"/>
              </a:spcAft>
              <a:buClr>
                <a:srgbClr val="7F7F7F"/>
              </a:buClr>
              <a:buSzPts val="1600"/>
              <a:buNone/>
            </a:pPr>
            <a:r>
              <a:t/>
            </a:r>
            <a:endParaRPr i="0">
              <a:solidFill>
                <a:srgbClr val="0070C0"/>
              </a:solidFill>
              <a:latin typeface="Arial"/>
              <a:ea typeface="Arial"/>
              <a:cs typeface="Arial"/>
              <a:sym typeface="Arial"/>
            </a:endParaRPr>
          </a:p>
          <a:p>
            <a:pPr indent="-342900" lvl="0" marL="342900" rtl="0" algn="l">
              <a:lnSpc>
                <a:spcPct val="100000"/>
              </a:lnSpc>
              <a:spcBef>
                <a:spcPts val="360"/>
              </a:spcBef>
              <a:spcAft>
                <a:spcPts val="0"/>
              </a:spcAft>
              <a:buClr>
                <a:schemeClr val="dk1"/>
              </a:buClr>
              <a:buSzPts val="1800"/>
              <a:buNone/>
            </a:pPr>
            <a:r>
              <a:rPr b="1" i="0" lang="en-US" sz="1800">
                <a:solidFill>
                  <a:schemeClr val="dk1"/>
                </a:solidFill>
                <a:latin typeface="Arial"/>
                <a:ea typeface="Arial"/>
                <a:cs typeface="Arial"/>
                <a:sym typeface="Arial"/>
              </a:rPr>
              <a:t>Link to the Colab Notebook:</a:t>
            </a:r>
            <a:endParaRPr/>
          </a:p>
          <a:p>
            <a:pPr indent="-342900" lvl="0" marL="342900" rtl="0" algn="l">
              <a:lnSpc>
                <a:spcPct val="100000"/>
              </a:lnSpc>
              <a:spcBef>
                <a:spcPts val="320"/>
              </a:spcBef>
              <a:spcAft>
                <a:spcPts val="0"/>
              </a:spcAft>
              <a:buClr>
                <a:schemeClr val="dk1"/>
              </a:buClr>
              <a:buSzPts val="1600"/>
              <a:buNone/>
            </a:pPr>
            <a:r>
              <a:rPr lang="en-US">
                <a:solidFill>
                  <a:schemeClr val="dk1"/>
                </a:solidFill>
              </a:rPr>
              <a:t>	</a:t>
            </a:r>
            <a:r>
              <a:rPr i="0" lang="en-US" u="sng">
                <a:solidFill>
                  <a:schemeClr val="dk1"/>
                </a:solidFill>
                <a:latin typeface="Arial"/>
                <a:ea typeface="Arial"/>
                <a:cs typeface="Arial"/>
                <a:sym typeface="Arial"/>
                <a:hlinkClick r:id="rId5">
                  <a:extLst>
                    <a:ext uri="{A12FA001-AC4F-418D-AE19-62706E023703}">
                      <ahyp:hlinkClr val="tx"/>
                    </a:ext>
                  </a:extLst>
                </a:hlinkClick>
              </a:rPr>
              <a:t>https://colab.research.google.com/drive/13HlBbirhWxXIeU4w62EHxPPeBztjKbgN?usp=sharing</a:t>
            </a:r>
            <a:endParaRPr i="0">
              <a:solidFill>
                <a:schemeClr val="dk1"/>
              </a:solidFill>
              <a:latin typeface="Arial"/>
              <a:ea typeface="Arial"/>
              <a:cs typeface="Arial"/>
              <a:sym typeface="Arial"/>
            </a:endParaRPr>
          </a:p>
          <a:p>
            <a:pPr indent="-342900" lvl="0" marL="342900" rtl="0" algn="l">
              <a:lnSpc>
                <a:spcPct val="100000"/>
              </a:lnSpc>
              <a:spcBef>
                <a:spcPts val="320"/>
              </a:spcBef>
              <a:spcAft>
                <a:spcPts val="0"/>
              </a:spcAft>
              <a:buClr>
                <a:srgbClr val="7F7F7F"/>
              </a:buClr>
              <a:buSzPts val="1600"/>
              <a:buNone/>
            </a:pPr>
            <a:r>
              <a:t/>
            </a:r>
            <a:endParaRPr>
              <a:solidFill>
                <a:schemeClr val="dk1"/>
              </a:solidFill>
            </a:endParaRPr>
          </a:p>
        </p:txBody>
      </p:sp>
      <p:sp>
        <p:nvSpPr>
          <p:cNvPr id="221" name="Google Shape;221;p25"/>
          <p:cNvSpPr txBox="1"/>
          <p:nvPr>
            <p:ph type="title"/>
          </p:nvPr>
        </p:nvSpPr>
        <p:spPr>
          <a:xfrm>
            <a:off x="179512" y="-51923"/>
            <a:ext cx="7661196" cy="79690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500"/>
              <a:buFont typeface="Calibri"/>
              <a:buNone/>
            </a:pPr>
            <a:r>
              <a:rPr lang="en-US"/>
              <a:t>Links</a:t>
            </a:r>
            <a:endParaRPr/>
          </a:p>
        </p:txBody>
      </p:sp>
      <p:sp>
        <p:nvSpPr>
          <p:cNvPr id="222" name="Google Shape;222;p25"/>
          <p:cNvSpPr txBox="1"/>
          <p:nvPr>
            <p:ph idx="12" type="sldNum"/>
          </p:nvPr>
        </p:nvSpPr>
        <p:spPr>
          <a:xfrm>
            <a:off x="6553200" y="6500834"/>
            <a:ext cx="2133600" cy="22064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2010-02-01T08:03:16Z</dcterms:created>
  <dc:creator>Slide Members by HS.SEO</dc:creator>
</cp:coreProperties>
</file>